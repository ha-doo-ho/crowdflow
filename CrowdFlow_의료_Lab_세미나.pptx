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theme" Target="theme/theme1.xml" /><ns0:Relationship Id="rId7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6" Type="http://schemas.openxmlformats.org/officeDocument/2006/relationships/presProps" Target="presProps.xml" /><ns0:Relationship Id="rId9" Type="http://schemas.openxmlformats.org/officeDocument/2006/relationships/tableStyles" Target="tableStyles.xml" /><Relationship Id="rId20" Type="http://schemas.openxmlformats.org/officeDocument/2006/relationships/slide" Target="slides/slide1.xml" /><Relationship Id="rId21" Type="http://schemas.openxmlformats.org/officeDocument/2006/relationships/slide" Target="slides/slide2.xml" /><Relationship Id="rId22" Type="http://schemas.openxmlformats.org/officeDocument/2006/relationships/slide" Target="slides/slide3.xml" /><Relationship Id="rId23" Type="http://schemas.openxmlformats.org/officeDocument/2006/relationships/slide" Target="slides/slide4.xml" /><Relationship Id="rId24" Type="http://schemas.openxmlformats.org/officeDocument/2006/relationships/slide" Target="slides/slide5.xml" /><Relationship Id="rId25" Type="http://schemas.openxmlformats.org/officeDocument/2006/relationships/slide" Target="slides/slide6.xml" /><Relationship Id="rId26" Type="http://schemas.openxmlformats.org/officeDocument/2006/relationships/slide" Target="slides/slide7.xml" /><Relationship Id="rId27" Type="http://schemas.openxmlformats.org/officeDocument/2006/relationships/slide" Target="slides/slide8.xml" /><Relationship Id="rId28" Type="http://schemas.openxmlformats.org/officeDocument/2006/relationships/slide" Target="slides/slide9.xml" /><Relationship Id="rId29" Type="http://schemas.openxmlformats.org/officeDocument/2006/relationships/slide" Target="slides/slide10.xml" /><Relationship Id="rId30" Type="http://schemas.openxmlformats.org/officeDocument/2006/relationships/slide" Target="slides/slide11.xml" /><Relationship Id="rId31" Type="http://schemas.openxmlformats.org/officeDocument/2006/relationships/slide" Target="slides/slide12.xml" /><Relationship Id="rId32" Type="http://schemas.openxmlformats.org/officeDocument/2006/relationships/slide" Target="slides/slide13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870DD-83EB-B401-1EA7-E36DFEE88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0CDC7B-875D-E97E-030F-0B25E3B22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86D93-BBBB-4C34-3859-1A925ECB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524CAE-B819-664D-0843-260249071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1A9DA5-734A-A4BD-96F2-41E5F272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78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E1074-822A-7723-D38B-7FE476D3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020D43-C069-A9FB-7EFF-6DE4A00E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C8E922-83D8-64E7-9476-4B1FEE7B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A57EF2-B91A-B977-2C6C-E011C0E6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26181A-0C7A-683C-DE44-F0706D11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58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5A4F0-376F-E916-DD1B-1C23598F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8A9A58-E6BC-F251-9505-6FED57CB9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82B952-8889-FD5F-95FB-10BF7CD9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F93630-2FFE-6CA6-BBE2-70464AE84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975C0-1DE6-613B-2C8C-510B4938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25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4A9B0-0ED3-BB06-44E6-5C68CA64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B7EEE-DEBB-95E1-7063-F6B2C3704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D2C825-5256-27E1-D991-B267170E4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20F040-4394-13B0-746F-50FC7798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0ABA09-7301-9DB5-0DA7-50E02F1A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5078D0-A97E-54F0-502D-AFD14187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99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A6A12-89CB-56B3-2928-D6CD73E4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6B5024-AC1C-BC4D-7E56-75837578D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EBB504-90DE-A463-8B8F-B31D02709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1403A4-6F99-1630-E5E9-E786005BDE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EC878F-2CCD-4F09-7510-FAD3C5481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E25F2B-19E0-EF36-29F8-5106F722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240F32-BBF1-FFA8-6F4C-5B4ACDE7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07B71B-AE64-86B3-0A8E-9511DA92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27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255F7-67B7-286C-A4BF-E61215F8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7C639E-F542-00F3-4DE0-B8240B551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9C3FBB-305D-3E90-B185-680C287F0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34AF8-E09C-E545-3B02-64D3914B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51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A84275-C48A-6BE0-DB95-DD91AA79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24DF38-7BF6-98A1-5E3D-C5ED4C9F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4C29A8-1F56-26E2-2420-72A81DBB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00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3C9D1-473B-B4E5-530A-9EAA1EA3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3E0464-3C8A-8492-BE24-D64AC429C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CE8853-3984-1442-E5C4-BBE494A04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ED17E4-399C-B948-53F1-31E190B4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02F7EE-C66B-809A-4EBE-13E60D48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4402C3-4A46-2425-79F3-079F4F32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44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88FEE-3A3A-90B5-6111-DC5BF7F9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3823D2-8302-B53A-F761-1E78B4BB9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16B191-07D6-D396-7D37-150DAA43B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7C3753-D471-B530-9670-FAC5FC7B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A52EF-AC17-F709-7C43-022F6DC6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79B99B-A8E0-C703-E46C-5B06FE60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17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B7434-BFA1-3BE2-F64D-04D30603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7AC413-ABB6-BB6C-128F-D1E41B8B6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474633-3BDE-26DE-4CF8-1DAA5637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FDA297-8146-B6E7-987D-72082E59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AD1D7-6BB0-2D82-A4CF-F26BEF56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31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C69249-FCE3-A8C0-146C-00A8574B56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E89316-168A-6860-D362-FD4F3EBCF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4BA7C-97E2-A51C-0C20-C3076009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0BA5A-ECFA-D38E-73FD-CF049694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0D50D3-4AAE-2450-7D82-28C5A5C6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17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319D43-662F-970D-050E-09B4A3D2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542D46-51A3-76BD-EFF6-441C14502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CA926-3132-65A5-7C19-AF6F3A442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51B27-65FA-414C-B090-656981F331A5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E3FAA-21A9-C91E-9D4A-8B79729DB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53D19-6BA3-38FC-3C8B-BD78671D8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6D0C7-4320-4AD2-B945-585F36830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54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" name="cover-title"/>
          <p:cNvSpPr txBox="1"/>
          <p:nvPr/>
        </p:nvSpPr>
        <p:spPr>
          <a:xfrm>
            <a:off x="2381250" y="2333625"/>
            <a:ext cx="7429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3400" b="1">
                <a:solidFill>
                  <a:srgbClr val="111111"/>
                </a:solidFill>
                <a:latin typeface="맑은 고딕"/>
                <a:ea typeface="맑은 고딕"/>
              </a:rPr>
              <a:t>의료 Lab 세미나</a:t>
            </a:r>
            <a:endParaRPr lang="ko-KR" sz="3400"/>
          </a:p>
        </p:txBody>
      </p:sp>
      <p:sp>
        <p:nvSpPr>
          <p:cNvPr id="11" name="cover-rule"/>
          <p:cNvSpPr txBox="1"/>
          <p:nvPr/>
        </p:nvSpPr>
        <p:spPr>
          <a:xfrm>
            <a:off x="2381250" y="2990850"/>
            <a:ext cx="7429500" cy="19050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12" name="cover-sub"/>
          <p:cNvSpPr txBox="1"/>
          <p:nvPr/>
        </p:nvSpPr>
        <p:spPr>
          <a:xfrm>
            <a:off x="2381250" y="3181350"/>
            <a:ext cx="7429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700">
                <a:solidFill>
                  <a:srgbClr val="333333"/>
                </a:solidFill>
                <a:latin typeface="맑은 고딕"/>
                <a:ea typeface="맑은 고딕"/>
              </a:rPr>
              <a:t>CrowdFlow: 드론 조감 영상 기반
실시간 군중 밀집도 관제 시스템</a:t>
            </a:r>
            <a:endParaRPr lang="ko-KR" sz="1700"/>
          </a:p>
        </p:txBody>
      </p:sp>
      <p:sp>
        <p:nvSpPr>
          <p:cNvPr id="13" name="cover-author"/>
          <p:cNvSpPr txBox="1"/>
          <p:nvPr/>
        </p:nvSpPr>
        <p:spPr>
          <a:xfrm>
            <a:off x="2381250" y="4029075"/>
            <a:ext cx="7429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>
                <a:solidFill>
                  <a:srgbClr val="111111"/>
                </a:solidFill>
                <a:latin typeface="맑은 고딕"/>
                <a:ea typeface="맑은 고딕"/>
              </a:rPr>
              <a:t>20221333 하두호</a:t>
            </a:r>
            <a:endParaRPr lang="ko-KR" sz="1400"/>
          </a:p>
        </p:txBody>
      </p:sp>
      <p:sp>
        <p:nvSpPr>
          <p:cNvPr id="14" name="cover-date"/>
          <p:cNvSpPr txBox="1"/>
          <p:nvPr/>
        </p:nvSpPr>
        <p:spPr>
          <a:xfrm>
            <a:off x="2381250" y="433387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000">
                <a:solidFill>
                  <a:srgbClr val="777777"/>
                </a:solidFill>
                <a:latin typeface="맑은 고딕"/>
                <a:ea typeface="맑은 고딕"/>
              </a:rPr>
              <a:t>2026.05.20</a:t>
            </a:r>
            <a:endParaRPr lang="ko-K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2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AGENDA</a:t>
            </a:r>
            <a:endParaRPr lang="ko-KR" sz="1000"/>
          </a:p>
        </p:txBody>
      </p:sp>
      <p:sp>
        <p:nvSpPr>
          <p:cNvPr id="202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오늘 발표의 핵심은 ‘왜 이 구조가 9월 제출까지 유효한가’입니다.</a:t>
            </a:r>
            <a:endParaRPr lang="ko-KR" sz="2400"/>
          </a:p>
        </p:txBody>
      </p:sp>
      <p:sp>
        <p:nvSpPr>
          <p:cNvPr id="302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2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02</a:t>
            </a:r>
            <a:endParaRPr lang="ko-KR" sz="900"/>
          </a:p>
        </p:txBody>
      </p:sp>
      <p:sp>
        <p:nvSpPr>
          <p:cNvPr id="21" name="agenda-01"/>
          <p:cNvSpPr txBox="1"/>
          <p:nvPr/>
        </p:nvSpPr>
        <p:spPr>
          <a:xfrm>
            <a:off x="952500" y="1619250"/>
            <a:ext cx="66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01</a:t>
            </a:r>
            <a:endParaRPr lang="ko-KR" sz="1800"/>
          </a:p>
        </p:txBody>
      </p:sp>
      <p:sp>
        <p:nvSpPr>
          <p:cNvPr id="41" name="agenda-title-01"/>
          <p:cNvSpPr txBox="1"/>
          <p:nvPr/>
        </p:nvSpPr>
        <p:spPr>
          <a:xfrm>
            <a:off x="1809750" y="16002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700" b="1">
                <a:solidFill>
                  <a:srgbClr val="111111"/>
                </a:solidFill>
                <a:latin typeface="맑은 고딕"/>
                <a:ea typeface="맑은 고딕"/>
              </a:rPr>
              <a:t>문제 정의</a:t>
            </a:r>
            <a:endParaRPr lang="ko-KR" sz="1700"/>
          </a:p>
        </p:txBody>
      </p:sp>
      <p:sp>
        <p:nvSpPr>
          <p:cNvPr id="61" name="agenda-desc-01"/>
          <p:cNvSpPr txBox="1"/>
          <p:nvPr/>
        </p:nvSpPr>
        <p:spPr>
          <a:xfrm>
            <a:off x="4286250" y="162877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고정 CCTV가 놓치는 밀집 위험을 드론 조감 영상으로 보완</a:t>
            </a:r>
            <a:endParaRPr lang="ko-KR" sz="1300"/>
          </a:p>
        </p:txBody>
      </p:sp>
      <p:sp>
        <p:nvSpPr>
          <p:cNvPr id="81" name="agenda-rule-01"/>
          <p:cNvSpPr txBox="1"/>
          <p:nvPr/>
        </p:nvSpPr>
        <p:spPr>
          <a:xfrm>
            <a:off x="952500" y="1990725"/>
            <a:ext cx="9572625" cy="14288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22" name="agenda-02"/>
          <p:cNvSpPr txBox="1"/>
          <p:nvPr/>
        </p:nvSpPr>
        <p:spPr>
          <a:xfrm>
            <a:off x="952500" y="2419350"/>
            <a:ext cx="66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02</a:t>
            </a:r>
            <a:endParaRPr lang="ko-KR" sz="1800"/>
          </a:p>
        </p:txBody>
      </p:sp>
      <p:sp>
        <p:nvSpPr>
          <p:cNvPr id="42" name="agenda-title-02"/>
          <p:cNvSpPr txBox="1"/>
          <p:nvPr/>
        </p:nvSpPr>
        <p:spPr>
          <a:xfrm>
            <a:off x="1809750" y="24003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700" b="1">
                <a:solidFill>
                  <a:srgbClr val="111111"/>
                </a:solidFill>
                <a:latin typeface="맑은 고딕"/>
                <a:ea typeface="맑은 고딕"/>
              </a:rPr>
              <a:t>시스템 설계</a:t>
            </a:r>
            <a:endParaRPr lang="ko-KR" sz="1700"/>
          </a:p>
        </p:txBody>
      </p:sp>
      <p:sp>
        <p:nvSpPr>
          <p:cNvPr id="62" name="agenda-desc-02"/>
          <p:cNvSpPr txBox="1"/>
          <p:nvPr/>
        </p:nvSpPr>
        <p:spPr>
          <a:xfrm>
            <a:off x="4286250" y="242887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Tello 영상 → AI 탐지 → Homography → 격자 밀집도 → 대시보드</a:t>
            </a:r>
            <a:endParaRPr lang="ko-KR" sz="1300"/>
          </a:p>
        </p:txBody>
      </p:sp>
      <p:sp>
        <p:nvSpPr>
          <p:cNvPr id="82" name="agenda-rule-02"/>
          <p:cNvSpPr txBox="1"/>
          <p:nvPr/>
        </p:nvSpPr>
        <p:spPr>
          <a:xfrm>
            <a:off x="952500" y="2790825"/>
            <a:ext cx="9572625" cy="14288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23" name="agenda-03"/>
          <p:cNvSpPr txBox="1"/>
          <p:nvPr/>
        </p:nvSpPr>
        <p:spPr>
          <a:xfrm>
            <a:off x="952500" y="3219450"/>
            <a:ext cx="66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03</a:t>
            </a:r>
            <a:endParaRPr lang="ko-KR" sz="1800"/>
          </a:p>
        </p:txBody>
      </p:sp>
      <p:sp>
        <p:nvSpPr>
          <p:cNvPr id="43" name="agenda-title-03"/>
          <p:cNvSpPr txBox="1"/>
          <p:nvPr/>
        </p:nvSpPr>
        <p:spPr>
          <a:xfrm>
            <a:off x="1809750" y="32004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700" b="1">
                <a:solidFill>
                  <a:srgbClr val="111111"/>
                </a:solidFill>
                <a:latin typeface="맑은 고딕"/>
                <a:ea typeface="맑은 고딕"/>
              </a:rPr>
              <a:t>현재 구현</a:t>
            </a:r>
            <a:endParaRPr lang="ko-KR" sz="1700"/>
          </a:p>
        </p:txBody>
      </p:sp>
      <p:sp>
        <p:nvSpPr>
          <p:cNvPr id="63" name="agenda-desc-03"/>
          <p:cNvSpPr txBox="1"/>
          <p:nvPr/>
        </p:nvSpPr>
        <p:spPr>
          <a:xfrm>
            <a:off x="4286250" y="322897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RT-DETR/YOLO 계열 탐지, GridCalculator, Streamlit/SQLite 골격</a:t>
            </a:r>
            <a:endParaRPr lang="ko-KR" sz="1300"/>
          </a:p>
        </p:txBody>
      </p:sp>
      <p:sp>
        <p:nvSpPr>
          <p:cNvPr id="83" name="agenda-rule-03"/>
          <p:cNvSpPr txBox="1"/>
          <p:nvPr/>
        </p:nvSpPr>
        <p:spPr>
          <a:xfrm>
            <a:off x="952500" y="3590925"/>
            <a:ext cx="9572625" cy="14288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24" name="agenda-04"/>
          <p:cNvSpPr txBox="1"/>
          <p:nvPr/>
        </p:nvSpPr>
        <p:spPr>
          <a:xfrm>
            <a:off x="952500" y="4019550"/>
            <a:ext cx="66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04</a:t>
            </a:r>
            <a:endParaRPr lang="ko-KR" sz="1800"/>
          </a:p>
        </p:txBody>
      </p:sp>
      <p:sp>
        <p:nvSpPr>
          <p:cNvPr id="44" name="agenda-title-04"/>
          <p:cNvSpPr txBox="1"/>
          <p:nvPr/>
        </p:nvSpPr>
        <p:spPr>
          <a:xfrm>
            <a:off x="1809750" y="40005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700" b="1">
                <a:solidFill>
                  <a:srgbClr val="111111"/>
                </a:solidFill>
                <a:latin typeface="맑은 고딕"/>
                <a:ea typeface="맑은 고딕"/>
              </a:rPr>
              <a:t>확인된 차이</a:t>
            </a:r>
            <a:endParaRPr lang="ko-KR" sz="1700"/>
          </a:p>
        </p:txBody>
      </p:sp>
      <p:sp>
        <p:nvSpPr>
          <p:cNvPr id="64" name="agenda-desc-04"/>
          <p:cNvSpPr txBox="1"/>
          <p:nvPr/>
        </p:nvSpPr>
        <p:spPr>
          <a:xfrm>
            <a:off x="4286250" y="402907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종합기록에는 완료로 적힌 JSON/DB 연결이 실제 코드에는 일부 미반영</a:t>
            </a:r>
            <a:endParaRPr lang="ko-KR" sz="1300"/>
          </a:p>
        </p:txBody>
      </p:sp>
      <p:sp>
        <p:nvSpPr>
          <p:cNvPr id="84" name="agenda-rule-04"/>
          <p:cNvSpPr txBox="1"/>
          <p:nvPr/>
        </p:nvSpPr>
        <p:spPr>
          <a:xfrm>
            <a:off x="952500" y="4391025"/>
            <a:ext cx="9572625" cy="14288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25" name="agenda-05"/>
          <p:cNvSpPr txBox="1"/>
          <p:nvPr/>
        </p:nvSpPr>
        <p:spPr>
          <a:xfrm>
            <a:off x="952500" y="4819650"/>
            <a:ext cx="66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05</a:t>
            </a:r>
            <a:endParaRPr lang="ko-KR" sz="1800"/>
          </a:p>
        </p:txBody>
      </p:sp>
      <p:sp>
        <p:nvSpPr>
          <p:cNvPr id="45" name="agenda-title-05"/>
          <p:cNvSpPr txBox="1"/>
          <p:nvPr/>
        </p:nvSpPr>
        <p:spPr>
          <a:xfrm>
            <a:off x="1809750" y="48006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700" b="1">
                <a:solidFill>
                  <a:srgbClr val="111111"/>
                </a:solidFill>
                <a:latin typeface="맑은 고딕"/>
                <a:ea typeface="맑은 고딕"/>
              </a:rPr>
              <a:t>향후 계획</a:t>
            </a:r>
            <a:endParaRPr lang="ko-KR" sz="1700"/>
          </a:p>
        </p:txBody>
      </p:sp>
      <p:sp>
        <p:nvSpPr>
          <p:cNvPr id="65" name="agenda-desc-05"/>
          <p:cNvSpPr txBox="1"/>
          <p:nvPr/>
        </p:nvSpPr>
        <p:spPr>
          <a:xfrm>
            <a:off x="4286250" y="482917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6월 모델 확정, 7~8월 교내 실험, 9월 제출물 고정</a:t>
            </a:r>
            <a:endParaRPr lang="ko-KR" sz="1300"/>
          </a:p>
        </p:txBody>
      </p:sp>
      <p:sp>
        <p:nvSpPr>
          <p:cNvPr id="85" name="agenda-rule-05"/>
          <p:cNvSpPr txBox="1"/>
          <p:nvPr/>
        </p:nvSpPr>
        <p:spPr>
          <a:xfrm>
            <a:off x="952500" y="5191125"/>
            <a:ext cx="9572625" cy="14288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190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3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PROBLEM</a:t>
            </a:r>
            <a:endParaRPr lang="ko-KR" sz="1000"/>
          </a:p>
        </p:txBody>
      </p:sp>
      <p:sp>
        <p:nvSpPr>
          <p:cNvPr id="203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기존 관제는 ‘보이는가’보다 ‘얼마나 위험한가’를 정량화하지 못합니다.</a:t>
            </a:r>
            <a:endParaRPr lang="ko-KR" sz="2400"/>
          </a:p>
        </p:txBody>
      </p:sp>
      <p:sp>
        <p:nvSpPr>
          <p:cNvPr id="303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3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03</a:t>
            </a:r>
            <a:endParaRPr lang="ko-KR" sz="900"/>
          </a:p>
        </p:txBody>
      </p:sp>
      <p:sp>
        <p:nvSpPr>
          <p:cNvPr id="30" name="left-title"/>
          <p:cNvSpPr txBox="1"/>
          <p:nvPr/>
        </p:nvSpPr>
        <p:spPr>
          <a:xfrm>
            <a:off x="876300" y="1571625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기존 방식의 한계</a:t>
            </a:r>
            <a:endParaRPr lang="ko-KR" sz="1800"/>
          </a:p>
        </p:txBody>
      </p:sp>
      <p:sp>
        <p:nvSpPr>
          <p:cNvPr id="31" name="left-body"/>
          <p:cNvSpPr txBox="1"/>
          <p:nvPr/>
        </p:nvSpPr>
        <p:spPr>
          <a:xfrm>
            <a:off x="876300" y="20193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500">
                <a:solidFill>
                  <a:srgbClr val="333333"/>
                </a:solidFill>
                <a:latin typeface="맑은 고딕"/>
                <a:ea typeface="맑은 고딕"/>
              </a:rPr>
              <a:t>고정 CCTV: 사각지대와 측면 시점 겹침 발생</a:t>
            </a:r>
            <a:endParaRPr lang="ko-KR" sz="1500"/>
          </a:p>
          <a:p>
            <a:pPr algn="l"/>
            <a:r>
              <a:rPr lang="ko-KR" sz="1500">
                <a:solidFill>
                  <a:srgbClr val="333333"/>
                </a:solidFill>
                <a:latin typeface="맑은 고딕"/>
                <a:ea typeface="맑은 고딕"/>
              </a:rPr>
              <a:t>관제 요원 판단: 위험도 수치화가 어려움</a:t>
            </a:r>
            <a:endParaRPr lang="ko-KR" sz="1500"/>
          </a:p>
          <a:p>
            <a:pPr algn="l"/>
            <a:r>
              <a:rPr lang="ko-KR" sz="1500">
                <a:solidFill>
                  <a:srgbClr val="333333"/>
                </a:solidFill>
                <a:latin typeface="맑은 고딕"/>
                <a:ea typeface="맑은 고딕"/>
              </a:rPr>
              <a:t>혼잡 대응: 이미 위험해진 뒤에야 대응 가능</a:t>
            </a:r>
            <a:endParaRPr lang="ko-KR" sz="1500"/>
          </a:p>
        </p:txBody>
      </p:sp>
      <p:sp>
        <p:nvSpPr>
          <p:cNvPr id="32" name="right-title"/>
          <p:cNvSpPr txBox="1"/>
          <p:nvPr/>
        </p:nvSpPr>
        <p:spPr>
          <a:xfrm>
            <a:off x="6334125" y="1571625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CrowdFlow의 방향</a:t>
            </a:r>
            <a:endParaRPr lang="ko-KR" sz="1800"/>
          </a:p>
        </p:txBody>
      </p:sp>
      <p:sp>
        <p:nvSpPr>
          <p:cNvPr id="33" name="right-body"/>
          <p:cNvSpPr txBox="1"/>
          <p:nvPr/>
        </p:nvSpPr>
        <p:spPr>
          <a:xfrm>
            <a:off x="6334125" y="20193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500">
                <a:solidFill>
                  <a:srgbClr val="333333"/>
                </a:solidFill>
                <a:latin typeface="맑은 고딕"/>
                <a:ea typeface="맑은 고딕"/>
              </a:rPr>
              <a:t>드론 조감 시점으로 고정 CCTV 사각지대 보완</a:t>
            </a:r>
            <a:endParaRPr lang="ko-KR" sz="1500"/>
          </a:p>
          <a:p>
            <a:pPr algn="l"/>
            <a:r>
              <a:rPr lang="ko-KR" sz="1500">
                <a:solidFill>
                  <a:srgbClr val="333333"/>
                </a:solidFill>
                <a:latin typeface="맑은 고딕"/>
                <a:ea typeface="맑은 고딕"/>
              </a:rPr>
              <a:t>AI 탐지 결과를 실제 m 좌표와 격자 밀집도로 변환</a:t>
            </a:r>
            <a:endParaRPr lang="ko-KR" sz="1500"/>
          </a:p>
          <a:p>
            <a:pPr algn="l"/>
            <a:r>
              <a:rPr lang="ko-KR" sz="1500">
                <a:solidFill>
                  <a:srgbClr val="333333"/>
                </a:solidFill>
                <a:latin typeface="맑은 고딕"/>
                <a:ea typeface="맑은 고딕"/>
              </a:rPr>
              <a:t>Level 1~5 경보로 관제관의 선제 판단 지원</a:t>
            </a:r>
            <a:endParaRPr lang="ko-KR" sz="1500"/>
          </a:p>
        </p:txBody>
      </p:sp>
      <p:sp>
        <p:nvSpPr>
          <p:cNvPr id="34" name="midline"/>
          <p:cNvSpPr txBox="1"/>
          <p:nvPr/>
        </p:nvSpPr>
        <p:spPr>
          <a:xfrm>
            <a:off x="5810250" y="1571625"/>
            <a:ext cx="19050" cy="3190875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35" name="bottom-callout"/>
          <p:cNvSpPr txBox="1"/>
          <p:nvPr/>
        </p:nvSpPr>
        <p:spPr>
          <a:xfrm>
            <a:off x="1257300" y="5191125"/>
            <a:ext cx="93345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목표는 ‘정확한 인원수 과시’가 아니라, 위험 가능성이 높은 구역을 빠르게 드러내는 관제 보조 시스템입니다.</a:t>
            </a:r>
            <a:endParaRPr lang="ko-KR" sz="1600"/>
          </a:p>
        </p:txBody>
      </p:sp>
      <p:sp>
        <p:nvSpPr>
          <p:cNvPr id="191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4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SCOPE</a:t>
            </a:r>
            <a:endParaRPr lang="ko-KR" sz="1000"/>
          </a:p>
        </p:txBody>
      </p:sp>
      <p:sp>
        <p:nvSpPr>
          <p:cNvPr id="204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구현 범위를 좁힌 결정이 프로젝트 완주 가능성을 높입니다.</a:t>
            </a:r>
            <a:endParaRPr lang="ko-KR" sz="2400"/>
          </a:p>
        </p:txBody>
      </p:sp>
      <p:sp>
        <p:nvSpPr>
          <p:cNvPr id="304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4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04</a:t>
            </a:r>
            <a:endParaRPr lang="ko-KR" sz="900"/>
          </a:p>
        </p:txBody>
      </p:sp>
      <p:sp>
        <p:nvSpPr>
          <p:cNvPr id="40" name="impl-title"/>
          <p:cNvSpPr txBox="1"/>
          <p:nvPr/>
        </p:nvSpPr>
        <p:spPr>
          <a:xfrm>
            <a:off x="904875" y="1524000"/>
            <a:ext cx="4286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구현하는 것</a:t>
            </a:r>
            <a:endParaRPr lang="ko-KR" sz="1800"/>
          </a:p>
        </p:txBody>
      </p:sp>
      <p:sp>
        <p:nvSpPr>
          <p:cNvPr id="41" name="drop-title"/>
          <p:cNvSpPr txBox="1"/>
          <p:nvPr/>
        </p:nvSpPr>
        <p:spPr>
          <a:xfrm>
            <a:off x="6381750" y="1524000"/>
            <a:ext cx="4286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800" b="1">
                <a:solidFill>
                  <a:srgbClr val="111111"/>
                </a:solidFill>
                <a:latin typeface="맑은 고딕"/>
                <a:ea typeface="맑은 고딕"/>
              </a:rPr>
              <a:t>이번 범위에서 제외한 것</a:t>
            </a:r>
            <a:endParaRPr lang="ko-KR" sz="1800"/>
          </a:p>
        </p:txBody>
      </p:sp>
      <p:sp>
        <p:nvSpPr>
          <p:cNvPr id="50" name="impl-box-0"/>
          <p:cNvSpPr txBox="1"/>
          <p:nvPr/>
        </p:nvSpPr>
        <p:spPr>
          <a:xfrm>
            <a:off x="904875" y="2047875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70" name="impl-text-0"/>
          <p:cNvSpPr txBox="1"/>
          <p:nvPr/>
        </p:nvSpPr>
        <p:spPr>
          <a:xfrm>
            <a:off x="1066800" y="2143125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222222"/>
                </a:solidFill>
                <a:latin typeface="맑은 고딕"/>
                <a:ea typeface="맑은 고딕"/>
              </a:rPr>
              <a:t>YOLO/RT-DETR 기반 사람 탐지</a:t>
            </a:r>
            <a:endParaRPr lang="ko-KR" sz="1300"/>
          </a:p>
        </p:txBody>
      </p:sp>
      <p:sp>
        <p:nvSpPr>
          <p:cNvPr id="51" name="impl-box-1"/>
          <p:cNvSpPr txBox="1"/>
          <p:nvPr/>
        </p:nvSpPr>
        <p:spPr>
          <a:xfrm>
            <a:off x="904875" y="2571750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71" name="impl-text-1"/>
          <p:cNvSpPr txBox="1"/>
          <p:nvPr/>
        </p:nvSpPr>
        <p:spPr>
          <a:xfrm>
            <a:off x="1066800" y="2667000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222222"/>
                </a:solidFill>
                <a:latin typeface="맑은 고딕"/>
                <a:ea typeface="맑은 고딕"/>
              </a:rPr>
              <a:t>Homography 좌표 변환</a:t>
            </a:r>
            <a:endParaRPr lang="ko-KR" sz="1300"/>
          </a:p>
        </p:txBody>
      </p:sp>
      <p:sp>
        <p:nvSpPr>
          <p:cNvPr id="52" name="impl-box-2"/>
          <p:cNvSpPr txBox="1"/>
          <p:nvPr/>
        </p:nvSpPr>
        <p:spPr>
          <a:xfrm>
            <a:off x="904875" y="3095625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72" name="impl-text-2"/>
          <p:cNvSpPr txBox="1"/>
          <p:nvPr/>
        </p:nvSpPr>
        <p:spPr>
          <a:xfrm>
            <a:off x="1066800" y="3190875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222222"/>
                </a:solidFill>
                <a:latin typeface="맑은 고딕"/>
                <a:ea typeface="맑은 고딕"/>
              </a:rPr>
              <a:t>2m x 2m 격자 밀집도 계산</a:t>
            </a:r>
            <a:endParaRPr lang="ko-KR" sz="1300"/>
          </a:p>
        </p:txBody>
      </p:sp>
      <p:sp>
        <p:nvSpPr>
          <p:cNvPr id="53" name="impl-box-3"/>
          <p:cNvSpPr txBox="1"/>
          <p:nvPr/>
        </p:nvSpPr>
        <p:spPr>
          <a:xfrm>
            <a:off x="904875" y="3619500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73" name="impl-text-3"/>
          <p:cNvSpPr txBox="1"/>
          <p:nvPr/>
        </p:nvSpPr>
        <p:spPr>
          <a:xfrm>
            <a:off x="1066800" y="3714750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222222"/>
                </a:solidFill>
                <a:latin typeface="맑은 고딕"/>
                <a:ea typeface="맑은 고딕"/>
              </a:rPr>
              <a:t>Confidence 저하 기반 위험 추정</a:t>
            </a:r>
            <a:endParaRPr lang="ko-KR" sz="1300"/>
          </a:p>
        </p:txBody>
      </p:sp>
      <p:sp>
        <p:nvSpPr>
          <p:cNvPr id="54" name="impl-box-4"/>
          <p:cNvSpPr txBox="1"/>
          <p:nvPr/>
        </p:nvSpPr>
        <p:spPr>
          <a:xfrm>
            <a:off x="904875" y="4143375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74" name="impl-text-4"/>
          <p:cNvSpPr txBox="1"/>
          <p:nvPr/>
        </p:nvSpPr>
        <p:spPr>
          <a:xfrm>
            <a:off x="1066800" y="4238625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222222"/>
                </a:solidFill>
                <a:latin typeface="맑은 고딕"/>
                <a:ea typeface="맑은 고딕"/>
              </a:rPr>
              <a:t>Streamlit 히트맵 + SQLite 로깅</a:t>
            </a:r>
            <a:endParaRPr lang="ko-KR" sz="1300"/>
          </a:p>
        </p:txBody>
      </p:sp>
      <p:sp>
        <p:nvSpPr>
          <p:cNvPr id="90" name="drop-box-0"/>
          <p:cNvSpPr txBox="1"/>
          <p:nvPr/>
        </p:nvSpPr>
        <p:spPr>
          <a:xfrm>
            <a:off x="6381750" y="2047875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110" name="drop-text-0"/>
          <p:cNvSpPr txBox="1"/>
          <p:nvPr/>
        </p:nvSpPr>
        <p:spPr>
          <a:xfrm>
            <a:off x="6543675" y="2143125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Head Detection: 항공 head 라벨 부족</a:t>
            </a:r>
            <a:endParaRPr lang="ko-KR" sz="1300"/>
          </a:p>
        </p:txBody>
      </p:sp>
      <p:sp>
        <p:nvSpPr>
          <p:cNvPr id="91" name="drop-box-1"/>
          <p:cNvSpPr txBox="1"/>
          <p:nvPr/>
        </p:nvSpPr>
        <p:spPr>
          <a:xfrm>
            <a:off x="6381750" y="2571750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111" name="drop-text-1"/>
          <p:cNvSpPr txBox="1"/>
          <p:nvPr/>
        </p:nvSpPr>
        <p:spPr>
          <a:xfrm>
            <a:off x="6543675" y="2667000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Optical Flow: Tello hover 흔들림이 더 큼</a:t>
            </a:r>
            <a:endParaRPr lang="ko-KR" sz="1300"/>
          </a:p>
        </p:txBody>
      </p:sp>
      <p:sp>
        <p:nvSpPr>
          <p:cNvPr id="92" name="drop-box-2"/>
          <p:cNvSpPr txBox="1"/>
          <p:nvPr/>
        </p:nvSpPr>
        <p:spPr>
          <a:xfrm>
            <a:off x="6381750" y="3095625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112" name="drop-text-2"/>
          <p:cNvSpPr txBox="1"/>
          <p:nvPr/>
        </p:nvSpPr>
        <p:spPr>
          <a:xfrm>
            <a:off x="6543675" y="3190875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FastAPI: 단일 노트북 구조에서는 과잉</a:t>
            </a:r>
            <a:endParaRPr lang="ko-KR" sz="1300"/>
          </a:p>
        </p:txBody>
      </p:sp>
      <p:sp>
        <p:nvSpPr>
          <p:cNvPr id="93" name="drop-box-3"/>
          <p:cNvSpPr txBox="1"/>
          <p:nvPr/>
        </p:nvSpPr>
        <p:spPr>
          <a:xfrm>
            <a:off x="6381750" y="3619500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113" name="drop-text-3"/>
          <p:cNvSpPr txBox="1"/>
          <p:nvPr/>
        </p:nvSpPr>
        <p:spPr>
          <a:xfrm>
            <a:off x="6543675" y="3714750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야간 촬영: Tello 카메라 한계</a:t>
            </a:r>
            <a:endParaRPr lang="ko-KR" sz="1300"/>
          </a:p>
        </p:txBody>
      </p:sp>
      <p:sp>
        <p:nvSpPr>
          <p:cNvPr id="94" name="drop-box-4"/>
          <p:cNvSpPr txBox="1"/>
          <p:nvPr/>
        </p:nvSpPr>
        <p:spPr>
          <a:xfrm>
            <a:off x="6381750" y="4143375"/>
            <a:ext cx="4381500" cy="400050"/>
          </a:xfrm>
          <a:prstGeom prst="rect">
            <a:avLst/>
          </a:prstGeom>
          <a:solidFill>
            <a:srgbClr val="FAFAFA"/>
          </a:solidFill>
          <a:ln w="12000">
            <a:solidFill>
              <a:srgbClr val="E1E1E1"/>
            </a:solidFill>
          </a:ln>
        </p:spPr>
      </p:sp>
      <p:sp>
        <p:nvSpPr>
          <p:cNvPr id="114" name="drop-text-4"/>
          <p:cNvSpPr txBox="1"/>
          <p:nvPr/>
        </p:nvSpPr>
        <p:spPr>
          <a:xfrm>
            <a:off x="6543675" y="4238625"/>
            <a:ext cx="405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분산 유도 인프라: 실제 제어 장치 범위 밖</a:t>
            </a:r>
            <a:endParaRPr lang="ko-KR" sz="1300"/>
          </a:p>
        </p:txBody>
      </p:sp>
      <p:sp>
        <p:nvSpPr>
          <p:cNvPr id="192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5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ARCHITECTURE</a:t>
            </a:r>
            <a:endParaRPr lang="ko-KR" sz="1000"/>
          </a:p>
        </p:txBody>
      </p:sp>
      <p:sp>
        <p:nvSpPr>
          <p:cNvPr id="205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데이터 계약을 고정하면 팀원 코드가 독립적으로 확장됩니다.</a:t>
            </a:r>
            <a:endParaRPr lang="ko-KR" sz="2400"/>
          </a:p>
        </p:txBody>
      </p:sp>
      <p:sp>
        <p:nvSpPr>
          <p:cNvPr id="305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5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05</a:t>
            </a:r>
            <a:endParaRPr lang="ko-KR" sz="900"/>
          </a:p>
        </p:txBody>
      </p:sp>
      <p:sp>
        <p:nvSpPr>
          <p:cNvPr id="50" name="arch-box-0"/>
          <p:cNvSpPr txBox="1"/>
          <p:nvPr/>
        </p:nvSpPr>
        <p:spPr>
          <a:xfrm>
            <a:off x="714375" y="2333625"/>
            <a:ext cx="1809750" cy="1143000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70" name="arch-name-0"/>
          <p:cNvSpPr txBox="1"/>
          <p:nvPr/>
        </p:nvSpPr>
        <p:spPr>
          <a:xfrm>
            <a:off x="847725" y="2524125"/>
            <a:ext cx="1543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DroneCamera</a:t>
            </a:r>
            <a:endParaRPr lang="ko-KR" sz="1400"/>
          </a:p>
        </p:txBody>
      </p:sp>
      <p:sp>
        <p:nvSpPr>
          <p:cNvPr id="90" name="arch-desc-0"/>
          <p:cNvSpPr txBox="1"/>
          <p:nvPr/>
        </p:nvSpPr>
        <p:spPr>
          <a:xfrm>
            <a:off x="847725" y="2905125"/>
            <a:ext cx="15430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555555"/>
                </a:solidFill>
                <a:latin typeface="맑은 고딕"/>
                <a:ea typeface="맑은 고딕"/>
              </a:rPr>
              <a:t>BGR frame
또는 None</a:t>
            </a:r>
            <a:endParaRPr lang="ko-KR" sz="1100"/>
          </a:p>
        </p:txBody>
      </p:sp>
      <p:sp>
        <p:nvSpPr>
          <p:cNvPr id="110" name="arch-arrow-line-0"/>
          <p:cNvSpPr txBox="1"/>
          <p:nvPr/>
        </p:nvSpPr>
        <p:spPr>
          <a:xfrm>
            <a:off x="2638425" y="2895600"/>
            <a:ext cx="41910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120" name="arch-arrow-head-0"/>
          <p:cNvSpPr txBox="1"/>
          <p:nvPr/>
        </p:nvSpPr>
        <p:spPr>
          <a:xfrm>
            <a:off x="3000375" y="2838450"/>
            <a:ext cx="95250" cy="1333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51" name="arch-box-1"/>
          <p:cNvSpPr txBox="1"/>
          <p:nvPr/>
        </p:nvSpPr>
        <p:spPr>
          <a:xfrm>
            <a:off x="2905125" y="2333625"/>
            <a:ext cx="1809750" cy="1143000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71" name="arch-name-1"/>
          <p:cNvSpPr txBox="1"/>
          <p:nvPr/>
        </p:nvSpPr>
        <p:spPr>
          <a:xfrm>
            <a:off x="3038475" y="2524125"/>
            <a:ext cx="1543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CrowdDetector</a:t>
            </a:r>
            <a:endParaRPr lang="ko-KR" sz="1400"/>
          </a:p>
        </p:txBody>
      </p:sp>
      <p:sp>
        <p:nvSpPr>
          <p:cNvPr id="91" name="arch-desc-1"/>
          <p:cNvSpPr txBox="1"/>
          <p:nvPr/>
        </p:nvSpPr>
        <p:spPr>
          <a:xfrm>
            <a:off x="3038475" y="2905125"/>
            <a:ext cx="15430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555555"/>
                </a:solidFill>
                <a:latin typeface="맑은 고딕"/>
                <a:ea typeface="맑은 고딕"/>
              </a:rPr>
              <a:t>bbox list
x1,y1,x2,y2,conf</a:t>
            </a:r>
            <a:endParaRPr lang="ko-KR" sz="1100"/>
          </a:p>
        </p:txBody>
      </p:sp>
      <p:sp>
        <p:nvSpPr>
          <p:cNvPr id="111" name="arch-arrow-line-1"/>
          <p:cNvSpPr txBox="1"/>
          <p:nvPr/>
        </p:nvSpPr>
        <p:spPr>
          <a:xfrm>
            <a:off x="4829175" y="2895600"/>
            <a:ext cx="41910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121" name="arch-arrow-head-1"/>
          <p:cNvSpPr txBox="1"/>
          <p:nvPr/>
        </p:nvSpPr>
        <p:spPr>
          <a:xfrm>
            <a:off x="5191125" y="2838450"/>
            <a:ext cx="95250" cy="1333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52" name="arch-box-2"/>
          <p:cNvSpPr txBox="1"/>
          <p:nvPr/>
        </p:nvSpPr>
        <p:spPr>
          <a:xfrm>
            <a:off x="5095875" y="2333625"/>
            <a:ext cx="1809750" cy="1143000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72" name="arch-name-2"/>
          <p:cNvSpPr txBox="1"/>
          <p:nvPr/>
        </p:nvSpPr>
        <p:spPr>
          <a:xfrm>
            <a:off x="5229225" y="2524125"/>
            <a:ext cx="1543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GridCalculator</a:t>
            </a:r>
            <a:endParaRPr lang="ko-KR" sz="1400"/>
          </a:p>
        </p:txBody>
      </p:sp>
      <p:sp>
        <p:nvSpPr>
          <p:cNvPr id="92" name="arch-desc-2"/>
          <p:cNvSpPr txBox="1"/>
          <p:nvPr/>
        </p:nvSpPr>
        <p:spPr>
          <a:xfrm>
            <a:off x="5229225" y="2905125"/>
            <a:ext cx="15430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555555"/>
                </a:solidFill>
                <a:latin typeface="맑은 고딕"/>
                <a:ea typeface="맑은 고딕"/>
              </a:rPr>
              <a:t>density, level,
alerts</a:t>
            </a:r>
            <a:endParaRPr lang="ko-KR" sz="1100"/>
          </a:p>
        </p:txBody>
      </p:sp>
      <p:sp>
        <p:nvSpPr>
          <p:cNvPr id="112" name="arch-arrow-line-2"/>
          <p:cNvSpPr txBox="1"/>
          <p:nvPr/>
        </p:nvSpPr>
        <p:spPr>
          <a:xfrm>
            <a:off x="7019925" y="2895600"/>
            <a:ext cx="41910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122" name="arch-arrow-head-2"/>
          <p:cNvSpPr txBox="1"/>
          <p:nvPr/>
        </p:nvSpPr>
        <p:spPr>
          <a:xfrm>
            <a:off x="7381875" y="2838450"/>
            <a:ext cx="95250" cy="1333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53" name="arch-box-3"/>
          <p:cNvSpPr txBox="1"/>
          <p:nvPr/>
        </p:nvSpPr>
        <p:spPr>
          <a:xfrm>
            <a:off x="7286625" y="2333625"/>
            <a:ext cx="1809750" cy="1143000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73" name="arch-name-3"/>
          <p:cNvSpPr txBox="1"/>
          <p:nvPr/>
        </p:nvSpPr>
        <p:spPr>
          <a:xfrm>
            <a:off x="7419975" y="2524125"/>
            <a:ext cx="1543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ResultPublisher</a:t>
            </a:r>
            <a:endParaRPr lang="ko-KR" sz="1400"/>
          </a:p>
        </p:txBody>
      </p:sp>
      <p:sp>
        <p:nvSpPr>
          <p:cNvPr id="93" name="arch-desc-3"/>
          <p:cNvSpPr txBox="1"/>
          <p:nvPr/>
        </p:nvSpPr>
        <p:spPr>
          <a:xfrm>
            <a:off x="7419975" y="2905125"/>
            <a:ext cx="15430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555555"/>
                </a:solidFill>
                <a:latin typeface="맑은 고딕"/>
                <a:ea typeface="맑은 고딕"/>
              </a:rPr>
              <a:t>JSON + SQLite
+ annotated frame</a:t>
            </a:r>
            <a:endParaRPr lang="ko-KR" sz="1100"/>
          </a:p>
        </p:txBody>
      </p:sp>
      <p:sp>
        <p:nvSpPr>
          <p:cNvPr id="113" name="arch-arrow-line-3"/>
          <p:cNvSpPr txBox="1"/>
          <p:nvPr/>
        </p:nvSpPr>
        <p:spPr>
          <a:xfrm>
            <a:off x="9210675" y="2895600"/>
            <a:ext cx="41910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123" name="arch-arrow-head-3"/>
          <p:cNvSpPr txBox="1"/>
          <p:nvPr/>
        </p:nvSpPr>
        <p:spPr>
          <a:xfrm>
            <a:off x="9572625" y="2838450"/>
            <a:ext cx="95250" cy="1333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54" name="arch-box-4"/>
          <p:cNvSpPr txBox="1"/>
          <p:nvPr/>
        </p:nvSpPr>
        <p:spPr>
          <a:xfrm>
            <a:off x="9477375" y="2333625"/>
            <a:ext cx="1809750" cy="1143000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74" name="arch-name-4"/>
          <p:cNvSpPr txBox="1"/>
          <p:nvPr/>
        </p:nvSpPr>
        <p:spPr>
          <a:xfrm>
            <a:off x="9610725" y="2524125"/>
            <a:ext cx="1543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Dashboard</a:t>
            </a:r>
            <a:endParaRPr lang="ko-KR" sz="1400"/>
          </a:p>
        </p:txBody>
      </p:sp>
      <p:sp>
        <p:nvSpPr>
          <p:cNvPr id="94" name="arch-desc-4"/>
          <p:cNvSpPr txBox="1"/>
          <p:nvPr/>
        </p:nvSpPr>
        <p:spPr>
          <a:xfrm>
            <a:off x="9610725" y="2905125"/>
            <a:ext cx="15430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555555"/>
                </a:solidFill>
                <a:latin typeface="맑은 고딕"/>
                <a:ea typeface="맑은 고딕"/>
              </a:rPr>
              <a:t>히트맵·경보
추세 차트</a:t>
            </a:r>
            <a:endParaRPr lang="ko-KR" sz="1100"/>
          </a:p>
        </p:txBody>
      </p:sp>
      <p:sp>
        <p:nvSpPr>
          <p:cNvPr id="130" name="contract"/>
          <p:cNvSpPr txBox="1"/>
          <p:nvPr/>
        </p:nvSpPr>
        <p:spPr>
          <a:xfrm>
            <a:off x="1285875" y="4333875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500" b="1">
                <a:solidFill>
                  <a:srgbClr val="222222"/>
                </a:solidFill>
                <a:latin typeface="맑은 고딕"/>
                <a:ea typeface="맑은 고딕"/>
              </a:rPr>
              <a:t>인터페이스 규약: 프레임은 numpy array, 탐지는 list[dict], 밀집도는 grid_result dict. 키 이름을 고정해야 통합 버그를 줄일 수 있습니다.</a:t>
            </a:r>
            <a:endParaRPr lang="ko-KR" sz="1500"/>
          </a:p>
        </p:txBody>
      </p:sp>
      <p:sp>
        <p:nvSpPr>
          <p:cNvPr id="193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6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CODEBASE</a:t>
            </a:r>
            <a:endParaRPr lang="ko-KR" sz="1000"/>
          </a:p>
        </p:txBody>
      </p:sp>
      <p:sp>
        <p:nvSpPr>
          <p:cNvPr id="206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현재 저장소는 역할별 모듈 분리가 끝났고, 연결부를 보강하는 단계입니다.</a:t>
            </a:r>
            <a:endParaRPr lang="ko-KR" sz="2400"/>
          </a:p>
        </p:txBody>
      </p:sp>
      <p:sp>
        <p:nvSpPr>
          <p:cNvPr id="306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6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06</a:t>
            </a:r>
            <a:endParaRPr lang="ko-KR" sz="900"/>
          </a:p>
        </p:txBody>
      </p:sp>
      <p:sp>
        <p:nvSpPr>
          <p:cNvPr id="60" name="repo-file-0"/>
          <p:cNvSpPr txBox="1"/>
          <p:nvPr/>
        </p:nvSpPr>
        <p:spPr>
          <a:xfrm>
            <a:off x="914400" y="152400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 b="1">
                <a:solidFill>
                  <a:srgbClr val="111111"/>
                </a:solidFill>
                <a:latin typeface="맑은 고딕"/>
                <a:ea typeface="맑은 고딕"/>
              </a:rPr>
              <a:t>main.py</a:t>
            </a:r>
            <a:endParaRPr lang="ko-KR" sz="1300"/>
          </a:p>
        </p:txBody>
      </p:sp>
      <p:sp>
        <p:nvSpPr>
          <p:cNvPr id="80" name="repo-role-0"/>
          <p:cNvSpPr txBox="1"/>
          <p:nvPr/>
        </p:nvSpPr>
        <p:spPr>
          <a:xfrm>
            <a:off x="3714750" y="15240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333333"/>
                </a:solidFill>
                <a:latin typeface="맑은 고딕"/>
                <a:ea typeface="맑은 고딕"/>
              </a:rPr>
              <a:t>전체 파이프라인 조립</a:t>
            </a:r>
            <a:endParaRPr lang="ko-KR" sz="1300"/>
          </a:p>
        </p:txBody>
      </p:sp>
      <p:sp>
        <p:nvSpPr>
          <p:cNvPr id="100" name="repo-todo-0"/>
          <p:cNvSpPr txBox="1"/>
          <p:nvPr/>
        </p:nvSpPr>
        <p:spPr>
          <a:xfrm>
            <a:off x="7048500" y="15240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555555"/>
                </a:solidFill>
                <a:latin typeface="맑은 고딕"/>
                <a:ea typeface="맑은 고딕"/>
              </a:rPr>
              <a:t>JSON/DB 저장 연결 필요</a:t>
            </a:r>
            <a:endParaRPr lang="ko-KR" sz="1300"/>
          </a:p>
        </p:txBody>
      </p:sp>
      <p:sp>
        <p:nvSpPr>
          <p:cNvPr id="120" name="repo-rule-0"/>
          <p:cNvSpPr txBox="1"/>
          <p:nvPr/>
        </p:nvSpPr>
        <p:spPr>
          <a:xfrm>
            <a:off x="914400" y="1838325"/>
            <a:ext cx="9667875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61" name="repo-file-1"/>
          <p:cNvSpPr txBox="1"/>
          <p:nvPr/>
        </p:nvSpPr>
        <p:spPr>
          <a:xfrm>
            <a:off x="914400" y="217170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 b="1">
                <a:solidFill>
                  <a:srgbClr val="111111"/>
                </a:solidFill>
                <a:latin typeface="맑은 고딕"/>
                <a:ea typeface="맑은 고딕"/>
              </a:rPr>
              <a:t>core/detector.py</a:t>
            </a:r>
            <a:endParaRPr lang="ko-KR" sz="1300"/>
          </a:p>
        </p:txBody>
      </p:sp>
      <p:sp>
        <p:nvSpPr>
          <p:cNvPr id="81" name="repo-role-1"/>
          <p:cNvSpPr txBox="1"/>
          <p:nvPr/>
        </p:nvSpPr>
        <p:spPr>
          <a:xfrm>
            <a:off x="3714750" y="21717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333333"/>
                </a:solidFill>
                <a:latin typeface="맑은 고딕"/>
                <a:ea typeface="맑은 고딕"/>
              </a:rPr>
              <a:t>RT-DETR 기반 탐지</a:t>
            </a:r>
            <a:endParaRPr lang="ko-KR" sz="1300"/>
          </a:p>
        </p:txBody>
      </p:sp>
      <p:sp>
        <p:nvSpPr>
          <p:cNvPr id="101" name="repo-todo-1"/>
          <p:cNvSpPr txBox="1"/>
          <p:nvPr/>
        </p:nvSpPr>
        <p:spPr>
          <a:xfrm>
            <a:off x="7048500" y="21717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555555"/>
                </a:solidFill>
                <a:latin typeface="맑은 고딕"/>
                <a:ea typeface="맑은 고딕"/>
              </a:rPr>
              <a:t>YOLO11 선택 구조 추가</a:t>
            </a:r>
            <a:endParaRPr lang="ko-KR" sz="1300"/>
          </a:p>
        </p:txBody>
      </p:sp>
      <p:sp>
        <p:nvSpPr>
          <p:cNvPr id="121" name="repo-rule-1"/>
          <p:cNvSpPr txBox="1"/>
          <p:nvPr/>
        </p:nvSpPr>
        <p:spPr>
          <a:xfrm>
            <a:off x="914400" y="2486025"/>
            <a:ext cx="9667875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62" name="repo-file-2"/>
          <p:cNvSpPr txBox="1"/>
          <p:nvPr/>
        </p:nvSpPr>
        <p:spPr>
          <a:xfrm>
            <a:off x="914400" y="281940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 b="1">
                <a:solidFill>
                  <a:srgbClr val="111111"/>
                </a:solidFill>
                <a:latin typeface="맑은 고딕"/>
                <a:ea typeface="맑은 고딕"/>
              </a:rPr>
              <a:t>core/grid_calculator.py</a:t>
            </a:r>
            <a:endParaRPr lang="ko-KR" sz="1300"/>
          </a:p>
        </p:txBody>
      </p:sp>
      <p:sp>
        <p:nvSpPr>
          <p:cNvPr id="82" name="repo-role-2"/>
          <p:cNvSpPr txBox="1"/>
          <p:nvPr/>
        </p:nvSpPr>
        <p:spPr>
          <a:xfrm>
            <a:off x="3714750" y="28194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333333"/>
                </a:solidFill>
                <a:latin typeface="맑은 고딕"/>
                <a:ea typeface="맑은 고딕"/>
              </a:rPr>
              <a:t>Homography + 밀집도</a:t>
            </a:r>
            <a:endParaRPr lang="ko-KR" sz="1300"/>
          </a:p>
        </p:txBody>
      </p:sp>
      <p:sp>
        <p:nvSpPr>
          <p:cNvPr id="102" name="repo-todo-2"/>
          <p:cNvSpPr txBox="1"/>
          <p:nvPr/>
        </p:nvSpPr>
        <p:spPr>
          <a:xfrm>
            <a:off x="7048500" y="28194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555555"/>
                </a:solidFill>
                <a:latin typeface="맑은 고딕"/>
                <a:ea typeface="맑은 고딕"/>
              </a:rPr>
              <a:t>실측 캘리브레이션 필요</a:t>
            </a:r>
            <a:endParaRPr lang="ko-KR" sz="1300"/>
          </a:p>
        </p:txBody>
      </p:sp>
      <p:sp>
        <p:nvSpPr>
          <p:cNvPr id="122" name="repo-rule-2"/>
          <p:cNvSpPr txBox="1"/>
          <p:nvPr/>
        </p:nvSpPr>
        <p:spPr>
          <a:xfrm>
            <a:off x="914400" y="3133725"/>
            <a:ext cx="9667875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63" name="repo-file-3"/>
          <p:cNvSpPr txBox="1"/>
          <p:nvPr/>
        </p:nvSpPr>
        <p:spPr>
          <a:xfrm>
            <a:off x="914400" y="346710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 b="1">
                <a:solidFill>
                  <a:srgbClr val="111111"/>
                </a:solidFill>
                <a:latin typeface="맑은 고딕"/>
                <a:ea typeface="맑은 고딕"/>
              </a:rPr>
              <a:t>hardware/drone_controller.py</a:t>
            </a:r>
            <a:endParaRPr lang="ko-KR" sz="1300"/>
          </a:p>
        </p:txBody>
      </p:sp>
      <p:sp>
        <p:nvSpPr>
          <p:cNvPr id="83" name="repo-role-3"/>
          <p:cNvSpPr txBox="1"/>
          <p:nvPr/>
        </p:nvSpPr>
        <p:spPr>
          <a:xfrm>
            <a:off x="3714750" y="34671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333333"/>
                </a:solidFill>
                <a:latin typeface="맑은 고딕"/>
                <a:ea typeface="맑은 고딕"/>
              </a:rPr>
              <a:t>Tello/영상/웹캠 입력</a:t>
            </a:r>
            <a:endParaRPr lang="ko-KR" sz="1300"/>
          </a:p>
        </p:txBody>
      </p:sp>
      <p:sp>
        <p:nvSpPr>
          <p:cNvPr id="103" name="repo-todo-3"/>
          <p:cNvSpPr txBox="1"/>
          <p:nvPr/>
        </p:nvSpPr>
        <p:spPr>
          <a:xfrm>
            <a:off x="7048500" y="34671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555555"/>
                </a:solidFill>
                <a:latin typeface="맑은 고딕"/>
                <a:ea typeface="맑은 고딕"/>
              </a:rPr>
              <a:t>실물 스트리밍 검증 필요</a:t>
            </a:r>
            <a:endParaRPr lang="ko-KR" sz="1300"/>
          </a:p>
        </p:txBody>
      </p:sp>
      <p:sp>
        <p:nvSpPr>
          <p:cNvPr id="123" name="repo-rule-3"/>
          <p:cNvSpPr txBox="1"/>
          <p:nvPr/>
        </p:nvSpPr>
        <p:spPr>
          <a:xfrm>
            <a:off x="914400" y="3781425"/>
            <a:ext cx="9667875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64" name="repo-file-4"/>
          <p:cNvSpPr txBox="1"/>
          <p:nvPr/>
        </p:nvSpPr>
        <p:spPr>
          <a:xfrm>
            <a:off x="914400" y="411480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 b="1">
                <a:solidFill>
                  <a:srgbClr val="111111"/>
                </a:solidFill>
                <a:latin typeface="맑은 고딕"/>
                <a:ea typeface="맑은 고딕"/>
              </a:rPr>
              <a:t>frontend/dashboard.py</a:t>
            </a:r>
            <a:endParaRPr lang="ko-KR" sz="1300"/>
          </a:p>
        </p:txBody>
      </p:sp>
      <p:sp>
        <p:nvSpPr>
          <p:cNvPr id="84" name="repo-role-4"/>
          <p:cNvSpPr txBox="1"/>
          <p:nvPr/>
        </p:nvSpPr>
        <p:spPr>
          <a:xfrm>
            <a:off x="3714750" y="41148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333333"/>
                </a:solidFill>
                <a:latin typeface="맑은 고딕"/>
                <a:ea typeface="맑은 고딕"/>
              </a:rPr>
              <a:t>Streamlit 관제 화면</a:t>
            </a:r>
            <a:endParaRPr lang="ko-KR" sz="1300"/>
          </a:p>
        </p:txBody>
      </p:sp>
      <p:sp>
        <p:nvSpPr>
          <p:cNvPr id="104" name="repo-todo-4"/>
          <p:cNvSpPr txBox="1"/>
          <p:nvPr/>
        </p:nvSpPr>
        <p:spPr>
          <a:xfrm>
            <a:off x="7048500" y="41148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555555"/>
                </a:solidFill>
                <a:latin typeface="맑은 고딕"/>
                <a:ea typeface="맑은 고딕"/>
              </a:rPr>
              <a:t>현재 파일명 dashbord.py 정리</a:t>
            </a:r>
            <a:endParaRPr lang="ko-KR" sz="1300"/>
          </a:p>
        </p:txBody>
      </p:sp>
      <p:sp>
        <p:nvSpPr>
          <p:cNvPr id="124" name="repo-rule-4"/>
          <p:cNvSpPr txBox="1"/>
          <p:nvPr/>
        </p:nvSpPr>
        <p:spPr>
          <a:xfrm>
            <a:off x="914400" y="4429125"/>
            <a:ext cx="9667875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65" name="repo-file-5"/>
          <p:cNvSpPr txBox="1"/>
          <p:nvPr/>
        </p:nvSpPr>
        <p:spPr>
          <a:xfrm>
            <a:off x="914400" y="476250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 b="1">
                <a:solidFill>
                  <a:srgbClr val="111111"/>
                </a:solidFill>
                <a:latin typeface="맑은 고딕"/>
                <a:ea typeface="맑은 고딕"/>
              </a:rPr>
              <a:t>frontend/data_logger.py</a:t>
            </a:r>
            <a:endParaRPr lang="ko-KR" sz="1300"/>
          </a:p>
        </p:txBody>
      </p:sp>
      <p:sp>
        <p:nvSpPr>
          <p:cNvPr id="85" name="repo-role-5"/>
          <p:cNvSpPr txBox="1"/>
          <p:nvPr/>
        </p:nvSpPr>
        <p:spPr>
          <a:xfrm>
            <a:off x="3714750" y="47625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333333"/>
                </a:solidFill>
                <a:latin typeface="맑은 고딕"/>
                <a:ea typeface="맑은 고딕"/>
              </a:rPr>
              <a:t>SQLite 기록</a:t>
            </a:r>
            <a:endParaRPr lang="ko-KR" sz="1300"/>
          </a:p>
        </p:txBody>
      </p:sp>
      <p:sp>
        <p:nvSpPr>
          <p:cNvPr id="105" name="repo-todo-5"/>
          <p:cNvSpPr txBox="1"/>
          <p:nvPr/>
        </p:nvSpPr>
        <p:spPr>
          <a:xfrm>
            <a:off x="7048500" y="47625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555555"/>
                </a:solidFill>
                <a:latin typeface="맑은 고딕"/>
                <a:ea typeface="맑은 고딕"/>
              </a:rPr>
              <a:t>main.py 호출 연결 필요</a:t>
            </a:r>
            <a:endParaRPr lang="ko-KR" sz="1300"/>
          </a:p>
        </p:txBody>
      </p:sp>
      <p:sp>
        <p:nvSpPr>
          <p:cNvPr id="125" name="repo-rule-5"/>
          <p:cNvSpPr txBox="1"/>
          <p:nvPr/>
        </p:nvSpPr>
        <p:spPr>
          <a:xfrm>
            <a:off x="914400" y="5076825"/>
            <a:ext cx="9667875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94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7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AI STATUS</a:t>
            </a:r>
            <a:endParaRPr lang="ko-KR" sz="1000"/>
          </a:p>
        </p:txBody>
      </p:sp>
      <p:sp>
        <p:nvSpPr>
          <p:cNvPr id="207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항공 시점 사람 탐지는 ‘모델 성능’과 ‘추론 속도’의 균형이 핵심입니다.</a:t>
            </a:r>
            <a:endParaRPr lang="ko-KR" sz="2400"/>
          </a:p>
        </p:txBody>
      </p:sp>
      <p:sp>
        <p:nvSpPr>
          <p:cNvPr id="307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7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07</a:t>
            </a:r>
            <a:endParaRPr lang="ko-KR" sz="900"/>
          </a:p>
        </p:txBody>
      </p:sp>
      <p:sp>
        <p:nvSpPr>
          <p:cNvPr id="60" name="metric-box-0"/>
          <p:cNvSpPr txBox="1"/>
          <p:nvPr/>
        </p:nvSpPr>
        <p:spPr>
          <a:xfrm>
            <a:off x="1095375" y="1714500"/>
            <a:ext cx="2667000" cy="1238250"/>
          </a:xfrm>
          <a:prstGeom prst="rect">
            <a:avLst/>
          </a:prstGeom>
          <a:solidFill>
            <a:srgbClr val="FAFAFA"/>
          </a:solidFill>
          <a:ln w="12000">
            <a:solidFill>
              <a:srgbClr val="DCDCDC"/>
            </a:solidFill>
          </a:ln>
        </p:spPr>
      </p:sp>
      <p:sp>
        <p:nvSpPr>
          <p:cNvPr id="80" name="metric-value-0"/>
          <p:cNvSpPr txBox="1"/>
          <p:nvPr/>
        </p:nvSpPr>
        <p:spPr>
          <a:xfrm>
            <a:off x="1285875" y="1952625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3000" b="1">
                <a:solidFill>
                  <a:srgbClr val="111111"/>
                </a:solidFill>
                <a:latin typeface="맑은 고딕"/>
                <a:ea typeface="맑은 고딕"/>
              </a:rPr>
              <a:t>0.531</a:t>
            </a:r>
            <a:endParaRPr lang="ko-KR" sz="3000"/>
          </a:p>
        </p:txBody>
      </p:sp>
      <p:sp>
        <p:nvSpPr>
          <p:cNvPr id="100" name="metric-label-0"/>
          <p:cNvSpPr txBox="1"/>
          <p:nvPr/>
        </p:nvSpPr>
        <p:spPr>
          <a:xfrm>
            <a:off x="1285875" y="241935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333333"/>
                </a:solidFill>
                <a:latin typeface="맑은 고딕"/>
                <a:ea typeface="맑은 고딕"/>
              </a:rPr>
              <a:t>mAP@0.5</a:t>
            </a:r>
            <a:endParaRPr lang="ko-KR" sz="1400"/>
          </a:p>
        </p:txBody>
      </p:sp>
      <p:sp>
        <p:nvSpPr>
          <p:cNvPr id="120" name="metric-note-0"/>
          <p:cNvSpPr txBox="1"/>
          <p:nvPr/>
        </p:nvSpPr>
        <p:spPr>
          <a:xfrm>
            <a:off x="1285875" y="26860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VisDrone 78 epoch 시점</a:t>
            </a:r>
            <a:endParaRPr lang="ko-KR" sz="900"/>
          </a:p>
        </p:txBody>
      </p:sp>
      <p:sp>
        <p:nvSpPr>
          <p:cNvPr id="61" name="metric-box-1"/>
          <p:cNvSpPr txBox="1"/>
          <p:nvPr/>
        </p:nvSpPr>
        <p:spPr>
          <a:xfrm>
            <a:off x="4238625" y="1714500"/>
            <a:ext cx="2667000" cy="1238250"/>
          </a:xfrm>
          <a:prstGeom prst="rect">
            <a:avLst/>
          </a:prstGeom>
          <a:solidFill>
            <a:srgbClr val="FAFAFA"/>
          </a:solidFill>
          <a:ln w="12000">
            <a:solidFill>
              <a:srgbClr val="DCDCDC"/>
            </a:solidFill>
          </a:ln>
        </p:spPr>
      </p:sp>
      <p:sp>
        <p:nvSpPr>
          <p:cNvPr id="81" name="metric-value-1"/>
          <p:cNvSpPr txBox="1"/>
          <p:nvPr/>
        </p:nvSpPr>
        <p:spPr>
          <a:xfrm>
            <a:off x="4429125" y="1952625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3000" b="1">
                <a:solidFill>
                  <a:srgbClr val="111111"/>
                </a:solidFill>
                <a:latin typeface="맑은 고딕"/>
                <a:ea typeface="맑은 고딕"/>
              </a:rPr>
              <a:t>0.631</a:t>
            </a:r>
            <a:endParaRPr lang="ko-KR" sz="3000"/>
          </a:p>
        </p:txBody>
      </p:sp>
      <p:sp>
        <p:nvSpPr>
          <p:cNvPr id="101" name="metric-label-1"/>
          <p:cNvSpPr txBox="1"/>
          <p:nvPr/>
        </p:nvSpPr>
        <p:spPr>
          <a:xfrm>
            <a:off x="4429125" y="241935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333333"/>
                </a:solidFill>
                <a:latin typeface="맑은 고딕"/>
                <a:ea typeface="맑은 고딕"/>
              </a:rPr>
              <a:t>Precision</a:t>
            </a:r>
            <a:endParaRPr lang="ko-KR" sz="1400"/>
          </a:p>
        </p:txBody>
      </p:sp>
      <p:sp>
        <p:nvSpPr>
          <p:cNvPr id="121" name="metric-note-1"/>
          <p:cNvSpPr txBox="1"/>
          <p:nvPr/>
        </p:nvSpPr>
        <p:spPr>
          <a:xfrm>
            <a:off x="4429125" y="26860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중간 결과</a:t>
            </a:r>
            <a:endParaRPr lang="ko-KR" sz="900"/>
          </a:p>
        </p:txBody>
      </p:sp>
      <p:sp>
        <p:nvSpPr>
          <p:cNvPr id="62" name="metric-box-2"/>
          <p:cNvSpPr txBox="1"/>
          <p:nvPr/>
        </p:nvSpPr>
        <p:spPr>
          <a:xfrm>
            <a:off x="7381875" y="1714500"/>
            <a:ext cx="2667000" cy="1238250"/>
          </a:xfrm>
          <a:prstGeom prst="rect">
            <a:avLst/>
          </a:prstGeom>
          <a:solidFill>
            <a:srgbClr val="FAFAFA"/>
          </a:solidFill>
          <a:ln w="12000">
            <a:solidFill>
              <a:srgbClr val="DCDCDC"/>
            </a:solidFill>
          </a:ln>
        </p:spPr>
      </p:sp>
      <p:sp>
        <p:nvSpPr>
          <p:cNvPr id="82" name="metric-value-2"/>
          <p:cNvSpPr txBox="1"/>
          <p:nvPr/>
        </p:nvSpPr>
        <p:spPr>
          <a:xfrm>
            <a:off x="7572375" y="1952625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3000" b="1">
                <a:solidFill>
                  <a:srgbClr val="111111"/>
                </a:solidFill>
                <a:latin typeface="맑은 고딕"/>
                <a:ea typeface="맑은 고딕"/>
              </a:rPr>
              <a:t>0.523</a:t>
            </a:r>
            <a:endParaRPr lang="ko-KR" sz="3000"/>
          </a:p>
        </p:txBody>
      </p:sp>
      <p:sp>
        <p:nvSpPr>
          <p:cNvPr id="102" name="metric-label-2"/>
          <p:cNvSpPr txBox="1"/>
          <p:nvPr/>
        </p:nvSpPr>
        <p:spPr>
          <a:xfrm>
            <a:off x="7572375" y="241935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400" b="1">
                <a:solidFill>
                  <a:srgbClr val="333333"/>
                </a:solidFill>
                <a:latin typeface="맑은 고딕"/>
                <a:ea typeface="맑은 고딕"/>
              </a:rPr>
              <a:t>Recall</a:t>
            </a:r>
            <a:endParaRPr lang="ko-KR" sz="1400"/>
          </a:p>
        </p:txBody>
      </p:sp>
      <p:sp>
        <p:nvSpPr>
          <p:cNvPr id="122" name="metric-note-2"/>
          <p:cNvSpPr txBox="1"/>
          <p:nvPr/>
        </p:nvSpPr>
        <p:spPr>
          <a:xfrm>
            <a:off x="7572375" y="26860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중간 결과</a:t>
            </a:r>
            <a:endParaRPr lang="ko-KR" sz="900"/>
          </a:p>
        </p:txBody>
      </p:sp>
      <p:sp>
        <p:nvSpPr>
          <p:cNvPr id="140" name="strategy-title"/>
          <p:cNvSpPr txBox="1"/>
          <p:nvPr/>
        </p:nvSpPr>
        <p:spPr>
          <a:xfrm>
            <a:off x="1285875" y="371475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700" b="1">
                <a:solidFill>
                  <a:srgbClr val="111111"/>
                </a:solidFill>
                <a:latin typeface="맑은 고딕"/>
                <a:ea typeface="맑은 고딕"/>
              </a:rPr>
              <a:t>모델 운용 전략</a:t>
            </a:r>
            <a:endParaRPr lang="ko-KR" sz="1700"/>
          </a:p>
        </p:txBody>
      </p:sp>
      <p:sp>
        <p:nvSpPr>
          <p:cNvPr id="141" name="strategy-body"/>
          <p:cNvSpPr txBox="1"/>
          <p:nvPr/>
        </p:nvSpPr>
        <p:spPr>
          <a:xfrm>
            <a:off x="1285875" y="4143375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400">
                <a:solidFill>
                  <a:srgbClr val="333333"/>
                </a:solidFill>
                <a:latin typeface="맑은 고딕"/>
                <a:ea typeface="맑은 고딕"/>
              </a:rPr>
              <a:t>RT-DETR: 현재 저장소 기본 추론 모델로 연결되어 있음</a:t>
            </a:r>
            <a:endParaRPr lang="ko-KR" sz="1400"/>
          </a:p>
          <a:p>
            <a:pPr algn="l"/>
            <a:r>
              <a:rPr lang="ko-KR" sz="1400">
                <a:solidFill>
                  <a:srgbClr val="333333"/>
                </a:solidFill>
                <a:latin typeface="맑은 고딕"/>
                <a:ea typeface="맑은 고딕"/>
              </a:rPr>
              <a:t>YOLO11: 학습 가중치 확보 후 동일 detect() 출력 규격으로 추가</a:t>
            </a:r>
            <a:endParaRPr lang="ko-KR" sz="1400"/>
          </a:p>
          <a:p>
            <a:pPr algn="l"/>
            <a:r>
              <a:rPr lang="ko-KR" sz="1400">
                <a:solidFill>
                  <a:srgbClr val="333333"/>
                </a:solidFill>
                <a:latin typeface="맑은 고딕"/>
                <a:ea typeface="맑은 고딕"/>
              </a:rPr>
              <a:t>비교 기준: 탐지율, 오탐, FPS, imgsz=640/960/1280, conf=0.1~0.4</a:t>
            </a:r>
            <a:endParaRPr lang="ko-KR" sz="1400"/>
          </a:p>
        </p:txBody>
      </p:sp>
      <p:sp>
        <p:nvSpPr>
          <p:cNvPr id="195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8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DENSITY ENGINE</a:t>
            </a:r>
            <a:endParaRPr lang="ko-KR" sz="1000"/>
          </a:p>
        </p:txBody>
      </p:sp>
      <p:sp>
        <p:nvSpPr>
          <p:cNvPr id="208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탐지 박스는 ‘사람 위치’가 아니라 ‘위험도 격자’로 변환되어야 합니다.</a:t>
            </a:r>
            <a:endParaRPr lang="ko-KR" sz="2400"/>
          </a:p>
        </p:txBody>
      </p:sp>
      <p:sp>
        <p:nvSpPr>
          <p:cNvPr id="308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8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08</a:t>
            </a:r>
            <a:endParaRPr lang="ko-KR" sz="900"/>
          </a:p>
        </p:txBody>
      </p:sp>
      <p:sp>
        <p:nvSpPr>
          <p:cNvPr id="60" name="grid-num-0"/>
          <p:cNvSpPr txBox="1"/>
          <p:nvPr/>
        </p:nvSpPr>
        <p:spPr>
          <a:xfrm>
            <a:off x="1047750" y="1666875"/>
            <a:ext cx="3810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100" b="1">
                <a:solidFill>
                  <a:srgbClr val="111111"/>
                </a:solidFill>
                <a:latin typeface="맑은 고딕"/>
                <a:ea typeface="맑은 고딕"/>
              </a:rPr>
              <a:t>1</a:t>
            </a:r>
            <a:endParaRPr lang="ko-KR" sz="2100"/>
          </a:p>
        </p:txBody>
      </p:sp>
      <p:sp>
        <p:nvSpPr>
          <p:cNvPr id="80" name="grid-title-0"/>
          <p:cNvSpPr txBox="1"/>
          <p:nvPr/>
        </p:nvSpPr>
        <p:spPr>
          <a:xfrm>
            <a:off x="1666875" y="1647825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bbox 하단 중심</a:t>
            </a:r>
            <a:endParaRPr lang="ko-KR" sz="1600"/>
          </a:p>
        </p:txBody>
      </p:sp>
      <p:sp>
        <p:nvSpPr>
          <p:cNvPr id="100" name="grid-desc-0"/>
          <p:cNvSpPr txBox="1"/>
          <p:nvPr/>
        </p:nvSpPr>
        <p:spPr>
          <a:xfrm>
            <a:off x="4333875" y="1676400"/>
            <a:ext cx="59055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발 위치를 지면 접점으로 사용</a:t>
            </a:r>
            <a:endParaRPr lang="ko-KR" sz="1300"/>
          </a:p>
        </p:txBody>
      </p:sp>
      <p:sp>
        <p:nvSpPr>
          <p:cNvPr id="120" name="grid-rule-0"/>
          <p:cNvSpPr txBox="1"/>
          <p:nvPr/>
        </p:nvSpPr>
        <p:spPr>
          <a:xfrm>
            <a:off x="1047750" y="2066925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61" name="grid-num-1"/>
          <p:cNvSpPr txBox="1"/>
          <p:nvPr/>
        </p:nvSpPr>
        <p:spPr>
          <a:xfrm>
            <a:off x="1047750" y="2466975"/>
            <a:ext cx="3810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100" b="1">
                <a:solidFill>
                  <a:srgbClr val="111111"/>
                </a:solidFill>
                <a:latin typeface="맑은 고딕"/>
                <a:ea typeface="맑은 고딕"/>
              </a:rPr>
              <a:t>2</a:t>
            </a:r>
            <a:endParaRPr lang="ko-KR" sz="2100"/>
          </a:p>
        </p:txBody>
      </p:sp>
      <p:sp>
        <p:nvSpPr>
          <p:cNvPr id="81" name="grid-title-1"/>
          <p:cNvSpPr txBox="1"/>
          <p:nvPr/>
        </p:nvSpPr>
        <p:spPr>
          <a:xfrm>
            <a:off x="1666875" y="2447925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Homography</a:t>
            </a:r>
            <a:endParaRPr lang="ko-KR" sz="1600"/>
          </a:p>
        </p:txBody>
      </p:sp>
      <p:sp>
        <p:nvSpPr>
          <p:cNvPr id="101" name="grid-desc-1"/>
          <p:cNvSpPr txBox="1"/>
          <p:nvPr/>
        </p:nvSpPr>
        <p:spPr>
          <a:xfrm>
            <a:off x="4333875" y="2476500"/>
            <a:ext cx="59055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픽셀 좌표를 실제 m 좌표로 변환</a:t>
            </a:r>
            <a:endParaRPr lang="ko-KR" sz="1300"/>
          </a:p>
        </p:txBody>
      </p:sp>
      <p:sp>
        <p:nvSpPr>
          <p:cNvPr id="121" name="grid-rule-1"/>
          <p:cNvSpPr txBox="1"/>
          <p:nvPr/>
        </p:nvSpPr>
        <p:spPr>
          <a:xfrm>
            <a:off x="1047750" y="2867025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62" name="grid-num-2"/>
          <p:cNvSpPr txBox="1"/>
          <p:nvPr/>
        </p:nvSpPr>
        <p:spPr>
          <a:xfrm>
            <a:off x="1047750" y="3267075"/>
            <a:ext cx="3810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100" b="1">
                <a:solidFill>
                  <a:srgbClr val="111111"/>
                </a:solidFill>
                <a:latin typeface="맑은 고딕"/>
                <a:ea typeface="맑은 고딕"/>
              </a:rPr>
              <a:t>3</a:t>
            </a:r>
            <a:endParaRPr lang="ko-KR" sz="2100"/>
          </a:p>
        </p:txBody>
      </p:sp>
      <p:sp>
        <p:nvSpPr>
          <p:cNvPr id="82" name="grid-title-2"/>
          <p:cNvSpPr txBox="1"/>
          <p:nvPr/>
        </p:nvSpPr>
        <p:spPr>
          <a:xfrm>
            <a:off x="1666875" y="3248025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2m x 2m 격자</a:t>
            </a:r>
            <a:endParaRPr lang="ko-KR" sz="1600"/>
          </a:p>
        </p:txBody>
      </p:sp>
      <p:sp>
        <p:nvSpPr>
          <p:cNvPr id="102" name="grid-desc-2"/>
          <p:cNvSpPr txBox="1"/>
          <p:nvPr/>
        </p:nvSpPr>
        <p:spPr>
          <a:xfrm>
            <a:off x="4333875" y="3276600"/>
            <a:ext cx="59055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셀별 인원수 / 4m²로 밀집도 계산</a:t>
            </a:r>
            <a:endParaRPr lang="ko-KR" sz="1300"/>
          </a:p>
        </p:txBody>
      </p:sp>
      <p:sp>
        <p:nvSpPr>
          <p:cNvPr id="122" name="grid-rule-2"/>
          <p:cNvSpPr txBox="1"/>
          <p:nvPr/>
        </p:nvSpPr>
        <p:spPr>
          <a:xfrm>
            <a:off x="1047750" y="3667125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63" name="grid-num-3"/>
          <p:cNvSpPr txBox="1"/>
          <p:nvPr/>
        </p:nvSpPr>
        <p:spPr>
          <a:xfrm>
            <a:off x="1047750" y="4067175"/>
            <a:ext cx="3810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100" b="1">
                <a:solidFill>
                  <a:srgbClr val="111111"/>
                </a:solidFill>
                <a:latin typeface="맑은 고딕"/>
                <a:ea typeface="맑은 고딕"/>
              </a:rPr>
              <a:t>4</a:t>
            </a:r>
            <a:endParaRPr lang="ko-KR" sz="2100"/>
          </a:p>
        </p:txBody>
      </p:sp>
      <p:sp>
        <p:nvSpPr>
          <p:cNvPr id="83" name="grid-title-3"/>
          <p:cNvSpPr txBox="1"/>
          <p:nvPr/>
        </p:nvSpPr>
        <p:spPr>
          <a:xfrm>
            <a:off x="1666875" y="4048125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Level + Alert</a:t>
            </a:r>
            <a:endParaRPr lang="ko-KR" sz="1600"/>
          </a:p>
        </p:txBody>
      </p:sp>
      <p:sp>
        <p:nvSpPr>
          <p:cNvPr id="103" name="grid-desc-3"/>
          <p:cNvSpPr txBox="1"/>
          <p:nvPr/>
        </p:nvSpPr>
        <p:spPr>
          <a:xfrm>
            <a:off x="4333875" y="4076700"/>
            <a:ext cx="59055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평균 confidence &lt; 0.4면 경고 상향</a:t>
            </a:r>
            <a:endParaRPr lang="ko-KR" sz="1300"/>
          </a:p>
        </p:txBody>
      </p:sp>
      <p:sp>
        <p:nvSpPr>
          <p:cNvPr id="123" name="grid-rule-3"/>
          <p:cNvSpPr txBox="1"/>
          <p:nvPr/>
        </p:nvSpPr>
        <p:spPr>
          <a:xfrm>
            <a:off x="1047750" y="4467225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150" name="formula"/>
          <p:cNvSpPr txBox="1"/>
          <p:nvPr/>
        </p:nvSpPr>
        <p:spPr>
          <a:xfrm>
            <a:off x="1619250" y="5286375"/>
            <a:ext cx="81915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density = count / (grid_size²) = count / 4.0  |  Level 1~5: 안전 → 주의 → 경고 → 위험 → 긴급</a:t>
            </a:r>
            <a:endParaRPr lang="ko-KR" sz="1500"/>
          </a:p>
        </p:txBody>
      </p:sp>
      <p:sp>
        <p:nvSpPr>
          <p:cNvPr id="196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9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CURRENT GAP</a:t>
            </a:r>
            <a:endParaRPr lang="ko-KR" sz="1000"/>
          </a:p>
        </p:txBody>
      </p:sp>
      <p:sp>
        <p:nvSpPr>
          <p:cNvPr id="209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종합기록의 설계는 맞지만, 실제 저장소는 연결부가 조금 뒤에 있습니다.</a:t>
            </a:r>
            <a:endParaRPr lang="ko-KR" sz="2400"/>
          </a:p>
        </p:txBody>
      </p:sp>
      <p:sp>
        <p:nvSpPr>
          <p:cNvPr id="309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09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09</a:t>
            </a:r>
            <a:endParaRPr lang="ko-KR" sz="900"/>
          </a:p>
        </p:txBody>
      </p:sp>
      <p:sp>
        <p:nvSpPr>
          <p:cNvPr id="145" name="gap-h-95"/>
          <p:cNvSpPr txBox="1"/>
          <p:nvPr/>
        </p:nvSpPr>
        <p:spPr>
          <a:xfrm>
            <a:off x="904875" y="138112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200" b="1">
                <a:solidFill>
                  <a:srgbClr val="111111"/>
                </a:solidFill>
                <a:latin typeface="맑은 고딕"/>
                <a:ea typeface="맑은 고딕"/>
              </a:rPr>
              <a:t>항목</a:t>
            </a:r>
            <a:endParaRPr lang="ko-KR" sz="1200"/>
          </a:p>
        </p:txBody>
      </p:sp>
      <p:sp>
        <p:nvSpPr>
          <p:cNvPr id="350" name="gap-h-300"/>
          <p:cNvSpPr txBox="1"/>
          <p:nvPr/>
        </p:nvSpPr>
        <p:spPr>
          <a:xfrm>
            <a:off x="2857500" y="1381125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200" b="1">
                <a:solidFill>
                  <a:srgbClr val="111111"/>
                </a:solidFill>
                <a:latin typeface="맑은 고딕"/>
                <a:ea typeface="맑은 고딕"/>
              </a:rPr>
              <a:t>종합 기록</a:t>
            </a:r>
            <a:endParaRPr lang="ko-KR" sz="1200"/>
          </a:p>
        </p:txBody>
      </p:sp>
      <p:sp>
        <p:nvSpPr>
          <p:cNvPr id="610" name="gap-h-560"/>
          <p:cNvSpPr txBox="1"/>
          <p:nvPr/>
        </p:nvSpPr>
        <p:spPr>
          <a:xfrm>
            <a:off x="5334000" y="1381125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200" b="1">
                <a:solidFill>
                  <a:srgbClr val="111111"/>
                </a:solidFill>
                <a:latin typeface="맑은 고딕"/>
                <a:ea typeface="맑은 고딕"/>
              </a:rPr>
              <a:t>현재 코드</a:t>
            </a:r>
            <a:endParaRPr lang="ko-KR" sz="1200"/>
          </a:p>
        </p:txBody>
      </p:sp>
      <p:sp>
        <p:nvSpPr>
          <p:cNvPr id="900" name="gap-h-850"/>
          <p:cNvSpPr txBox="1"/>
          <p:nvPr/>
        </p:nvSpPr>
        <p:spPr>
          <a:xfrm>
            <a:off x="8096250" y="1381125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200" b="1">
                <a:solidFill>
                  <a:srgbClr val="111111"/>
                </a:solidFill>
                <a:latin typeface="맑은 고딕"/>
                <a:ea typeface="맑은 고딕"/>
              </a:rPr>
              <a:t>즉시 조치</a:t>
            </a:r>
            <a:endParaRPr lang="ko-KR" sz="1200"/>
          </a:p>
        </p:txBody>
      </p:sp>
      <p:sp>
        <p:nvSpPr>
          <p:cNvPr id="90" name="gap-line-0"/>
          <p:cNvSpPr txBox="1"/>
          <p:nvPr/>
        </p:nvSpPr>
        <p:spPr>
          <a:xfrm>
            <a:off x="857250" y="1990725"/>
            <a:ext cx="9810750" cy="9525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sp>
        <p:nvSpPr>
          <p:cNvPr id="120" name="gap-0-0"/>
          <p:cNvSpPr txBox="1"/>
          <p:nvPr/>
        </p:nvSpPr>
        <p:spPr>
          <a:xfrm>
            <a:off x="904875" y="1619250"/>
            <a:ext cx="1619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 b="1">
                <a:solidFill>
                  <a:srgbClr val="111111"/>
                </a:solidFill>
                <a:latin typeface="맑은 고딕"/>
                <a:ea typeface="맑은 고딕"/>
              </a:rPr>
              <a:t>대시보드 파일명</a:t>
            </a:r>
            <a:endParaRPr lang="ko-KR" sz="1100"/>
          </a:p>
        </p:txBody>
      </p:sp>
      <p:sp>
        <p:nvSpPr>
          <p:cNvPr id="121" name="gap-0-1"/>
          <p:cNvSpPr txBox="1"/>
          <p:nvPr/>
        </p:nvSpPr>
        <p:spPr>
          <a:xfrm>
            <a:off x="2857500" y="161925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기록: dashboard.py</a:t>
            </a:r>
            <a:endParaRPr lang="ko-KR" sz="1100"/>
          </a:p>
        </p:txBody>
      </p:sp>
      <p:sp>
        <p:nvSpPr>
          <p:cNvPr id="122" name="gap-0-2"/>
          <p:cNvSpPr txBox="1"/>
          <p:nvPr/>
        </p:nvSpPr>
        <p:spPr>
          <a:xfrm>
            <a:off x="5334000" y="16192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실제: dashbord.py</a:t>
            </a:r>
            <a:endParaRPr lang="ko-KR" sz="1100"/>
          </a:p>
        </p:txBody>
      </p:sp>
      <p:sp>
        <p:nvSpPr>
          <p:cNvPr id="123" name="gap-0-3"/>
          <p:cNvSpPr txBox="1"/>
          <p:nvPr/>
        </p:nvSpPr>
        <p:spPr>
          <a:xfrm>
            <a:off x="8096250" y="16192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이름 정리</a:t>
            </a:r>
            <a:endParaRPr lang="ko-KR" sz="1100"/>
          </a:p>
        </p:txBody>
      </p:sp>
      <p:sp>
        <p:nvSpPr>
          <p:cNvPr id="91" name="gap-line-1"/>
          <p:cNvSpPr txBox="1"/>
          <p:nvPr/>
        </p:nvSpPr>
        <p:spPr>
          <a:xfrm>
            <a:off x="857250" y="2657475"/>
            <a:ext cx="9810750" cy="9525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sp>
        <p:nvSpPr>
          <p:cNvPr id="130" name="gap-1-0"/>
          <p:cNvSpPr txBox="1"/>
          <p:nvPr/>
        </p:nvSpPr>
        <p:spPr>
          <a:xfrm>
            <a:off x="904875" y="2286000"/>
            <a:ext cx="1619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 b="1">
                <a:solidFill>
                  <a:srgbClr val="111111"/>
                </a:solidFill>
                <a:latin typeface="맑은 고딕"/>
                <a:ea typeface="맑은 고딕"/>
              </a:rPr>
              <a:t>JSON 통신</a:t>
            </a:r>
            <a:endParaRPr lang="ko-KR" sz="1100"/>
          </a:p>
        </p:txBody>
      </p:sp>
      <p:sp>
        <p:nvSpPr>
          <p:cNvPr id="131" name="gap-1-1"/>
          <p:cNvSpPr txBox="1"/>
          <p:nvPr/>
        </p:nvSpPr>
        <p:spPr>
          <a:xfrm>
            <a:off x="2857500" y="228600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기록: latest_result.json 저장</a:t>
            </a:r>
            <a:endParaRPr lang="ko-KR" sz="1100"/>
          </a:p>
        </p:txBody>
      </p:sp>
      <p:sp>
        <p:nvSpPr>
          <p:cNvPr id="132" name="gap-1-2"/>
          <p:cNvSpPr txBox="1"/>
          <p:nvPr/>
        </p:nvSpPr>
        <p:spPr>
          <a:xfrm>
            <a:off x="5334000" y="22860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실제: main.py에 저장 없음</a:t>
            </a:r>
            <a:endParaRPr lang="ko-KR" sz="1100"/>
          </a:p>
        </p:txBody>
      </p:sp>
      <p:sp>
        <p:nvSpPr>
          <p:cNvPr id="133" name="gap-1-3"/>
          <p:cNvSpPr txBox="1"/>
          <p:nvPr/>
        </p:nvSpPr>
        <p:spPr>
          <a:xfrm>
            <a:off x="8096250" y="22860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save_latest_result 추가</a:t>
            </a:r>
            <a:endParaRPr lang="ko-KR" sz="1100"/>
          </a:p>
        </p:txBody>
      </p:sp>
      <p:sp>
        <p:nvSpPr>
          <p:cNvPr id="92" name="gap-line-2"/>
          <p:cNvSpPr txBox="1"/>
          <p:nvPr/>
        </p:nvSpPr>
        <p:spPr>
          <a:xfrm>
            <a:off x="857250" y="3324225"/>
            <a:ext cx="9810750" cy="9525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sp>
        <p:nvSpPr>
          <p:cNvPr id="140" name="gap-2-0"/>
          <p:cNvSpPr txBox="1"/>
          <p:nvPr/>
        </p:nvSpPr>
        <p:spPr>
          <a:xfrm>
            <a:off x="904875" y="2952750"/>
            <a:ext cx="1619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 b="1">
                <a:solidFill>
                  <a:srgbClr val="111111"/>
                </a:solidFill>
                <a:latin typeface="맑은 고딕"/>
                <a:ea typeface="맑은 고딕"/>
              </a:rPr>
              <a:t>SQLite 로깅</a:t>
            </a:r>
            <a:endParaRPr lang="ko-KR" sz="1100"/>
          </a:p>
        </p:txBody>
      </p:sp>
      <p:sp>
        <p:nvSpPr>
          <p:cNvPr id="141" name="gap-2-1"/>
          <p:cNvSpPr txBox="1"/>
          <p:nvPr/>
        </p:nvSpPr>
        <p:spPr>
          <a:xfrm>
            <a:off x="2857500" y="295275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기록: log_frame 호출</a:t>
            </a:r>
            <a:endParaRPr lang="ko-KR" sz="1100"/>
          </a:p>
        </p:txBody>
      </p:sp>
      <p:sp>
        <p:nvSpPr>
          <p:cNvPr id="142" name="gap-2-2"/>
          <p:cNvSpPr txBox="1"/>
          <p:nvPr/>
        </p:nvSpPr>
        <p:spPr>
          <a:xfrm>
            <a:off x="5334000" y="29527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실제: DataLogger import만 있음</a:t>
            </a:r>
            <a:endParaRPr lang="ko-KR" sz="1100"/>
          </a:p>
        </p:txBody>
      </p:sp>
      <p:sp>
        <p:nvSpPr>
          <p:cNvPr id="143" name="gap-2-3"/>
          <p:cNvSpPr txBox="1"/>
          <p:nvPr/>
        </p:nvSpPr>
        <p:spPr>
          <a:xfrm>
            <a:off x="8096250" y="29527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main loop 연결</a:t>
            </a:r>
            <a:endParaRPr lang="ko-KR" sz="1100"/>
          </a:p>
        </p:txBody>
      </p:sp>
      <p:sp>
        <p:nvSpPr>
          <p:cNvPr id="93" name="gap-line-3"/>
          <p:cNvSpPr txBox="1"/>
          <p:nvPr/>
        </p:nvSpPr>
        <p:spPr>
          <a:xfrm>
            <a:off x="857250" y="3990975"/>
            <a:ext cx="9810750" cy="9525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sp>
        <p:nvSpPr>
          <p:cNvPr id="150" name="gap-3-0"/>
          <p:cNvSpPr txBox="1"/>
          <p:nvPr/>
        </p:nvSpPr>
        <p:spPr>
          <a:xfrm>
            <a:off x="904875" y="3619500"/>
            <a:ext cx="1619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 b="1">
                <a:solidFill>
                  <a:srgbClr val="111111"/>
                </a:solidFill>
                <a:latin typeface="맑은 고딕"/>
                <a:ea typeface="맑은 고딕"/>
              </a:rPr>
              <a:t>모델 구조</a:t>
            </a:r>
            <a:endParaRPr lang="ko-KR" sz="1100"/>
          </a:p>
        </p:txBody>
      </p:sp>
      <p:sp>
        <p:nvSpPr>
          <p:cNvPr id="151" name="gap-3-1"/>
          <p:cNvSpPr txBox="1"/>
          <p:nvPr/>
        </p:nvSpPr>
        <p:spPr>
          <a:xfrm>
            <a:off x="2857500" y="361950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기록: YOLOv8 중심</a:t>
            </a:r>
            <a:endParaRPr lang="ko-KR" sz="1100"/>
          </a:p>
        </p:txBody>
      </p:sp>
      <p:sp>
        <p:nvSpPr>
          <p:cNvPr id="152" name="gap-3-2"/>
          <p:cNvSpPr txBox="1"/>
          <p:nvPr/>
        </p:nvSpPr>
        <p:spPr>
          <a:xfrm>
            <a:off x="5334000" y="36195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실제: RTDETR 고정</a:t>
            </a:r>
            <a:endParaRPr lang="ko-KR" sz="1100"/>
          </a:p>
        </p:txBody>
      </p:sp>
      <p:sp>
        <p:nvSpPr>
          <p:cNvPr id="153" name="gap-3-3"/>
          <p:cNvSpPr txBox="1"/>
          <p:nvPr/>
        </p:nvSpPr>
        <p:spPr>
          <a:xfrm>
            <a:off x="8096250" y="36195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100">
                <a:solidFill>
                  <a:srgbClr val="333333"/>
                </a:solidFill>
                <a:latin typeface="맑은 고딕"/>
                <a:ea typeface="맑은 고딕"/>
              </a:rPr>
              <a:t>YOLO/RT-DETR 선택형</a:t>
            </a:r>
            <a:endParaRPr lang="ko-KR" sz="1100"/>
          </a:p>
        </p:txBody>
      </p:sp>
      <p:sp>
        <p:nvSpPr>
          <p:cNvPr id="180" name="gap-callout"/>
          <p:cNvSpPr txBox="1"/>
          <p:nvPr/>
        </p:nvSpPr>
        <p:spPr>
          <a:xfrm>
            <a:off x="1143000" y="5429250"/>
            <a:ext cx="9334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세미나 이후 1차 작업은 ‘문서에 적힌 완료 상태’와 ‘실제 실행 코드’를 맞추는 것입니다.</a:t>
            </a:r>
            <a:endParaRPr lang="ko-KR" sz="1500"/>
          </a:p>
        </p:txBody>
      </p:sp>
      <p:sp>
        <p:nvSpPr>
          <p:cNvPr id="197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10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RISK PLAN</a:t>
            </a:r>
            <a:endParaRPr lang="ko-KR" sz="1000"/>
          </a:p>
        </p:txBody>
      </p:sp>
      <p:sp>
        <p:nvSpPr>
          <p:cNvPr id="210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프로젝트 리스크는 이미 식별되어 있고, 우회 경로도 준비되어 있습니다.</a:t>
            </a:r>
            <a:endParaRPr lang="ko-KR" sz="2400"/>
          </a:p>
        </p:txBody>
      </p:sp>
      <p:sp>
        <p:nvSpPr>
          <p:cNvPr id="310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10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10</a:t>
            </a:r>
            <a:endParaRPr lang="ko-KR" sz="900"/>
          </a:p>
        </p:txBody>
      </p:sp>
      <p:sp>
        <p:nvSpPr>
          <p:cNvPr id="60" name="risk-title-0"/>
          <p:cNvSpPr txBox="1"/>
          <p:nvPr/>
        </p:nvSpPr>
        <p:spPr>
          <a:xfrm>
            <a:off x="1000125" y="1619250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드론 비행 장소</a:t>
            </a:r>
            <a:endParaRPr lang="ko-KR" sz="1400"/>
          </a:p>
        </p:txBody>
      </p:sp>
      <p:sp>
        <p:nvSpPr>
          <p:cNvPr id="80" name="risk-resp-0"/>
          <p:cNvSpPr txBox="1"/>
          <p:nvPr/>
        </p:nvSpPr>
        <p:spPr>
          <a:xfrm>
            <a:off x="3619500" y="1619250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행정실/지도교수 협조, 실패 시 옥상 고정 카메라 대체</a:t>
            </a:r>
            <a:endParaRPr lang="ko-KR" sz="1300"/>
          </a:p>
        </p:txBody>
      </p:sp>
      <p:sp>
        <p:nvSpPr>
          <p:cNvPr id="100" name="risk-rule-0"/>
          <p:cNvSpPr txBox="1"/>
          <p:nvPr/>
        </p:nvSpPr>
        <p:spPr>
          <a:xfrm>
            <a:off x="1000125" y="1981200"/>
            <a:ext cx="95250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61" name="risk-title-1"/>
          <p:cNvSpPr txBox="1"/>
          <p:nvPr/>
        </p:nvSpPr>
        <p:spPr>
          <a:xfrm>
            <a:off x="1000125" y="2362200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고밀집 재현 불가</a:t>
            </a:r>
            <a:endParaRPr lang="ko-KR" sz="1400"/>
          </a:p>
        </p:txBody>
      </p:sp>
      <p:sp>
        <p:nvSpPr>
          <p:cNvPr id="81" name="risk-resp-1"/>
          <p:cNvSpPr txBox="1"/>
          <p:nvPr/>
        </p:nvSpPr>
        <p:spPr>
          <a:xfrm>
            <a:off x="3619500" y="2362200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교내 실험은 0.1~3.3인/m², 고밀집은 공개 데이터셋으로 검증</a:t>
            </a:r>
            <a:endParaRPr lang="ko-KR" sz="1300"/>
          </a:p>
        </p:txBody>
      </p:sp>
      <p:sp>
        <p:nvSpPr>
          <p:cNvPr id="101" name="risk-rule-1"/>
          <p:cNvSpPr txBox="1"/>
          <p:nvPr/>
        </p:nvSpPr>
        <p:spPr>
          <a:xfrm>
            <a:off x="1000125" y="2724150"/>
            <a:ext cx="95250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62" name="risk-title-2"/>
          <p:cNvSpPr txBox="1"/>
          <p:nvPr/>
        </p:nvSpPr>
        <p:spPr>
          <a:xfrm>
            <a:off x="1000125" y="3105150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유택 부재</a:t>
            </a:r>
            <a:endParaRPr lang="ko-KR" sz="1400"/>
          </a:p>
        </p:txBody>
      </p:sp>
      <p:sp>
        <p:nvSpPr>
          <p:cNvPr id="82" name="risk-resp-2"/>
          <p:cNvSpPr txBox="1"/>
          <p:nvPr/>
        </p:nvSpPr>
        <p:spPr>
          <a:xfrm>
            <a:off x="3619500" y="3105150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6/25까지 best.pt 확정 후 통합 담당이 그대로 사용</a:t>
            </a:r>
            <a:endParaRPr lang="ko-KR" sz="1300"/>
          </a:p>
        </p:txBody>
      </p:sp>
      <p:sp>
        <p:nvSpPr>
          <p:cNvPr id="102" name="risk-rule-2"/>
          <p:cNvSpPr txBox="1"/>
          <p:nvPr/>
        </p:nvSpPr>
        <p:spPr>
          <a:xfrm>
            <a:off x="1000125" y="3467100"/>
            <a:ext cx="95250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63" name="risk-title-3"/>
          <p:cNvSpPr txBox="1"/>
          <p:nvPr/>
        </p:nvSpPr>
        <p:spPr>
          <a:xfrm>
            <a:off x="1000125" y="3848100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통합 버그</a:t>
            </a:r>
            <a:endParaRPr lang="ko-KR" sz="1400"/>
          </a:p>
        </p:txBody>
      </p:sp>
      <p:sp>
        <p:nvSpPr>
          <p:cNvPr id="83" name="risk-resp-3"/>
          <p:cNvSpPr txBox="1"/>
          <p:nvPr/>
        </p:nvSpPr>
        <p:spPr>
          <a:xfrm>
            <a:off x="3619500" y="3848100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BGR/RGB, Homography 축 방향, JSON 직렬화부터 체크리스트화</a:t>
            </a:r>
            <a:endParaRPr lang="ko-KR" sz="1300"/>
          </a:p>
        </p:txBody>
      </p:sp>
      <p:sp>
        <p:nvSpPr>
          <p:cNvPr id="103" name="risk-rule-3"/>
          <p:cNvSpPr txBox="1"/>
          <p:nvPr/>
        </p:nvSpPr>
        <p:spPr>
          <a:xfrm>
            <a:off x="1000125" y="4210050"/>
            <a:ext cx="95250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64" name="risk-title-4"/>
          <p:cNvSpPr txBox="1"/>
          <p:nvPr/>
        </p:nvSpPr>
        <p:spPr>
          <a:xfrm>
            <a:off x="1000125" y="4591050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400" b="1">
                <a:solidFill>
                  <a:srgbClr val="111111"/>
                </a:solidFill>
                <a:latin typeface="맑은 고딕"/>
                <a:ea typeface="맑은 고딕"/>
              </a:rPr>
              <a:t>시연 직전 장비 문제</a:t>
            </a:r>
            <a:endParaRPr lang="ko-KR" sz="1400"/>
          </a:p>
        </p:txBody>
      </p:sp>
      <p:sp>
        <p:nvSpPr>
          <p:cNvPr id="84" name="risk-resp-4"/>
          <p:cNvSpPr txBox="1"/>
          <p:nvPr/>
        </p:nvSpPr>
        <p:spPr>
          <a:xfrm>
            <a:off x="3619500" y="4591050"/>
            <a:ext cx="6858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사전 녹화 영상 + 테스트 영상 시연 경로 확보</a:t>
            </a:r>
            <a:endParaRPr lang="ko-KR" sz="1300"/>
          </a:p>
        </p:txBody>
      </p:sp>
      <p:sp>
        <p:nvSpPr>
          <p:cNvPr id="104" name="risk-rule-4"/>
          <p:cNvSpPr txBox="1"/>
          <p:nvPr/>
        </p:nvSpPr>
        <p:spPr>
          <a:xfrm>
            <a:off x="1000125" y="4953000"/>
            <a:ext cx="95250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198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11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ROADMAP</a:t>
            </a:r>
            <a:endParaRPr lang="ko-KR" sz="1000"/>
          </a:p>
        </p:txBody>
      </p:sp>
      <p:sp>
        <p:nvSpPr>
          <p:cNvPr id="211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9월 제출을 위해 6월에는 모델, 7~8월에는 실험 데이터가 쌓여야 합니다.</a:t>
            </a:r>
            <a:endParaRPr lang="ko-KR" sz="2400"/>
          </a:p>
        </p:txBody>
      </p:sp>
      <p:sp>
        <p:nvSpPr>
          <p:cNvPr id="311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11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11</a:t>
            </a:r>
            <a:endParaRPr lang="ko-KR" sz="900"/>
          </a:p>
        </p:txBody>
      </p:sp>
      <p:sp>
        <p:nvSpPr>
          <p:cNvPr id="60" name="road-box-0"/>
          <p:cNvSpPr txBox="1"/>
          <p:nvPr/>
        </p:nvSpPr>
        <p:spPr>
          <a:xfrm>
            <a:off x="809625" y="2190750"/>
            <a:ext cx="1857375" cy="1571625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80" name="road-month-0"/>
          <p:cNvSpPr txBox="1"/>
          <p:nvPr/>
        </p:nvSpPr>
        <p:spPr>
          <a:xfrm>
            <a:off x="952500" y="2381250"/>
            <a:ext cx="15716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300" b="1">
                <a:solidFill>
                  <a:srgbClr val="777777"/>
                </a:solidFill>
                <a:latin typeface="맑은 고딕"/>
                <a:ea typeface="맑은 고딕"/>
              </a:rPr>
              <a:t>5월 말</a:t>
            </a:r>
            <a:endParaRPr lang="ko-KR" sz="1300"/>
          </a:p>
        </p:txBody>
      </p:sp>
      <p:sp>
        <p:nvSpPr>
          <p:cNvPr id="100" name="road-title-0"/>
          <p:cNvSpPr txBox="1"/>
          <p:nvPr/>
        </p:nvSpPr>
        <p:spPr>
          <a:xfrm>
            <a:off x="952500" y="2762250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구조 안정화</a:t>
            </a:r>
            <a:endParaRPr lang="ko-KR" sz="1600"/>
          </a:p>
        </p:txBody>
      </p:sp>
      <p:sp>
        <p:nvSpPr>
          <p:cNvPr id="120" name="road-desc-0"/>
          <p:cNvSpPr txBox="1"/>
          <p:nvPr/>
        </p:nvSpPr>
        <p:spPr>
          <a:xfrm>
            <a:off x="952500" y="3190875"/>
            <a:ext cx="1571625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444444"/>
                </a:solidFill>
                <a:latin typeface="맑은 고딕"/>
                <a:ea typeface="맑은 고딕"/>
              </a:rPr>
              <a:t>JSON/DB 연결
config/requirements 정리</a:t>
            </a:r>
            <a:endParaRPr lang="ko-KR" sz="1100"/>
          </a:p>
        </p:txBody>
      </p:sp>
      <p:sp>
        <p:nvSpPr>
          <p:cNvPr id="140" name="road-line-0"/>
          <p:cNvSpPr txBox="1"/>
          <p:nvPr/>
        </p:nvSpPr>
        <p:spPr>
          <a:xfrm>
            <a:off x="2762250" y="2971800"/>
            <a:ext cx="32385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61" name="road-box-1"/>
          <p:cNvSpPr txBox="1"/>
          <p:nvPr/>
        </p:nvSpPr>
        <p:spPr>
          <a:xfrm>
            <a:off x="2905125" y="2190750"/>
            <a:ext cx="1857375" cy="1571625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81" name="road-month-1"/>
          <p:cNvSpPr txBox="1"/>
          <p:nvPr/>
        </p:nvSpPr>
        <p:spPr>
          <a:xfrm>
            <a:off x="3048000" y="2381250"/>
            <a:ext cx="15716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300" b="1">
                <a:solidFill>
                  <a:srgbClr val="777777"/>
                </a:solidFill>
                <a:latin typeface="맑은 고딕"/>
                <a:ea typeface="맑은 고딕"/>
              </a:rPr>
              <a:t>6월</a:t>
            </a:r>
            <a:endParaRPr lang="ko-KR" sz="1300"/>
          </a:p>
        </p:txBody>
      </p:sp>
      <p:sp>
        <p:nvSpPr>
          <p:cNvPr id="101" name="road-title-1"/>
          <p:cNvSpPr txBox="1"/>
          <p:nvPr/>
        </p:nvSpPr>
        <p:spPr>
          <a:xfrm>
            <a:off x="3048000" y="2762250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모델 확정</a:t>
            </a:r>
            <a:endParaRPr lang="ko-KR" sz="1600"/>
          </a:p>
        </p:txBody>
      </p:sp>
      <p:sp>
        <p:nvSpPr>
          <p:cNvPr id="121" name="road-desc-1"/>
          <p:cNvSpPr txBox="1"/>
          <p:nvPr/>
        </p:nvSpPr>
        <p:spPr>
          <a:xfrm>
            <a:off x="3048000" y="3190875"/>
            <a:ext cx="1571625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444444"/>
                </a:solidFill>
                <a:latin typeface="맑은 고딕"/>
                <a:ea typeface="맑은 고딕"/>
              </a:rPr>
              <a:t>YOLO11/RT-DETR 비교
conf·imgsz 벤치마크</a:t>
            </a:r>
            <a:endParaRPr lang="ko-KR" sz="1100"/>
          </a:p>
        </p:txBody>
      </p:sp>
      <p:sp>
        <p:nvSpPr>
          <p:cNvPr id="141" name="road-line-1"/>
          <p:cNvSpPr txBox="1"/>
          <p:nvPr/>
        </p:nvSpPr>
        <p:spPr>
          <a:xfrm>
            <a:off x="4857750" y="2971800"/>
            <a:ext cx="32385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62" name="road-box-2"/>
          <p:cNvSpPr txBox="1"/>
          <p:nvPr/>
        </p:nvSpPr>
        <p:spPr>
          <a:xfrm>
            <a:off x="5000625" y="2190750"/>
            <a:ext cx="1857375" cy="1571625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82" name="road-month-2"/>
          <p:cNvSpPr txBox="1"/>
          <p:nvPr/>
        </p:nvSpPr>
        <p:spPr>
          <a:xfrm>
            <a:off x="5143500" y="2381250"/>
            <a:ext cx="15716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300" b="1">
                <a:solidFill>
                  <a:srgbClr val="777777"/>
                </a:solidFill>
                <a:latin typeface="맑은 고딕"/>
                <a:ea typeface="맑은 고딕"/>
              </a:rPr>
              <a:t>7월</a:t>
            </a:r>
            <a:endParaRPr lang="ko-KR" sz="1300"/>
          </a:p>
        </p:txBody>
      </p:sp>
      <p:sp>
        <p:nvSpPr>
          <p:cNvPr id="102" name="road-title-2"/>
          <p:cNvSpPr txBox="1"/>
          <p:nvPr/>
        </p:nvSpPr>
        <p:spPr>
          <a:xfrm>
            <a:off x="5143500" y="2762250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드론 실험</a:t>
            </a:r>
            <a:endParaRPr lang="ko-KR" sz="1600"/>
          </a:p>
        </p:txBody>
      </p:sp>
      <p:sp>
        <p:nvSpPr>
          <p:cNvPr id="122" name="road-desc-2"/>
          <p:cNvSpPr txBox="1"/>
          <p:nvPr/>
        </p:nvSpPr>
        <p:spPr>
          <a:xfrm>
            <a:off x="5143500" y="3190875"/>
            <a:ext cx="1571625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444444"/>
                </a:solidFill>
                <a:latin typeface="맑은 고딕"/>
                <a:ea typeface="맑은 고딕"/>
              </a:rPr>
              <a:t>Tello 스트리밍
실측 Homography</a:t>
            </a:r>
            <a:endParaRPr lang="ko-KR" sz="1100"/>
          </a:p>
        </p:txBody>
      </p:sp>
      <p:sp>
        <p:nvSpPr>
          <p:cNvPr id="142" name="road-line-2"/>
          <p:cNvSpPr txBox="1"/>
          <p:nvPr/>
        </p:nvSpPr>
        <p:spPr>
          <a:xfrm>
            <a:off x="6953250" y="2971800"/>
            <a:ext cx="32385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63" name="road-box-3"/>
          <p:cNvSpPr txBox="1"/>
          <p:nvPr/>
        </p:nvSpPr>
        <p:spPr>
          <a:xfrm>
            <a:off x="7096125" y="2190750"/>
            <a:ext cx="1857375" cy="1571625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83" name="road-month-3"/>
          <p:cNvSpPr txBox="1"/>
          <p:nvPr/>
        </p:nvSpPr>
        <p:spPr>
          <a:xfrm>
            <a:off x="7239000" y="2381250"/>
            <a:ext cx="15716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300" b="1">
                <a:solidFill>
                  <a:srgbClr val="777777"/>
                </a:solidFill>
                <a:latin typeface="맑은 고딕"/>
                <a:ea typeface="맑은 고딕"/>
              </a:rPr>
              <a:t>8월</a:t>
            </a:r>
            <a:endParaRPr lang="ko-KR" sz="1300"/>
          </a:p>
        </p:txBody>
      </p:sp>
      <p:sp>
        <p:nvSpPr>
          <p:cNvPr id="103" name="road-title-3"/>
          <p:cNvSpPr txBox="1"/>
          <p:nvPr/>
        </p:nvSpPr>
        <p:spPr>
          <a:xfrm>
            <a:off x="7239000" y="2762250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통합/평가</a:t>
            </a:r>
            <a:endParaRPr lang="ko-KR" sz="1600"/>
          </a:p>
        </p:txBody>
      </p:sp>
      <p:sp>
        <p:nvSpPr>
          <p:cNvPr id="123" name="road-desc-3"/>
          <p:cNvSpPr txBox="1"/>
          <p:nvPr/>
        </p:nvSpPr>
        <p:spPr>
          <a:xfrm>
            <a:off x="7239000" y="3190875"/>
            <a:ext cx="1571625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444444"/>
                </a:solidFill>
                <a:latin typeface="맑은 고딕"/>
                <a:ea typeface="맑은 고딕"/>
              </a:rPr>
              <a:t>25회 교내 실험
MAE/RMSE 산출</a:t>
            </a:r>
            <a:endParaRPr lang="ko-KR" sz="1100"/>
          </a:p>
        </p:txBody>
      </p:sp>
      <p:sp>
        <p:nvSpPr>
          <p:cNvPr id="143" name="road-line-3"/>
          <p:cNvSpPr txBox="1"/>
          <p:nvPr/>
        </p:nvSpPr>
        <p:spPr>
          <a:xfrm>
            <a:off x="9048750" y="2971800"/>
            <a:ext cx="32385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64" name="road-box-4"/>
          <p:cNvSpPr txBox="1"/>
          <p:nvPr/>
        </p:nvSpPr>
        <p:spPr>
          <a:xfrm>
            <a:off x="9191625" y="2190750"/>
            <a:ext cx="1857375" cy="1571625"/>
          </a:xfrm>
          <a:prstGeom prst="rect">
            <a:avLst/>
          </a:prstGeom>
          <a:solidFill>
            <a:srgbClr val="FFFFFF"/>
          </a:solidFill>
          <a:ln w="12000">
            <a:solidFill>
              <a:srgbClr val="CFCFCF"/>
            </a:solidFill>
          </a:ln>
        </p:spPr>
      </p:sp>
      <p:sp>
        <p:nvSpPr>
          <p:cNvPr id="84" name="road-month-4"/>
          <p:cNvSpPr txBox="1"/>
          <p:nvPr/>
        </p:nvSpPr>
        <p:spPr>
          <a:xfrm>
            <a:off x="9334500" y="2381250"/>
            <a:ext cx="15716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300" b="1">
                <a:solidFill>
                  <a:srgbClr val="777777"/>
                </a:solidFill>
                <a:latin typeface="맑은 고딕"/>
                <a:ea typeface="맑은 고딕"/>
              </a:rPr>
              <a:t>9월</a:t>
            </a:r>
            <a:endParaRPr lang="ko-KR" sz="1300"/>
          </a:p>
        </p:txBody>
      </p:sp>
      <p:sp>
        <p:nvSpPr>
          <p:cNvPr id="104" name="road-title-4"/>
          <p:cNvSpPr txBox="1"/>
          <p:nvPr/>
        </p:nvSpPr>
        <p:spPr>
          <a:xfrm>
            <a:off x="9334500" y="2762250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600" b="1">
                <a:solidFill>
                  <a:srgbClr val="111111"/>
                </a:solidFill>
                <a:latin typeface="맑은 고딕"/>
                <a:ea typeface="맑은 고딕"/>
              </a:rPr>
              <a:t>제출 고정</a:t>
            </a:r>
            <a:endParaRPr lang="ko-KR" sz="1600"/>
          </a:p>
        </p:txBody>
      </p:sp>
      <p:sp>
        <p:nvSpPr>
          <p:cNvPr id="124" name="road-desc-4"/>
          <p:cNvSpPr txBox="1"/>
          <p:nvPr/>
        </p:nvSpPr>
        <p:spPr>
          <a:xfrm>
            <a:off x="9334500" y="3190875"/>
            <a:ext cx="1571625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100">
                <a:solidFill>
                  <a:srgbClr val="444444"/>
                </a:solidFill>
                <a:latin typeface="맑은 고딕"/>
                <a:ea typeface="맑은 고딕"/>
              </a:rPr>
              <a:t>Feature Freeze
포스터·시연 영상</a:t>
            </a:r>
            <a:endParaRPr lang="ko-KR" sz="1100"/>
          </a:p>
        </p:txBody>
      </p:sp>
      <p:sp>
        <p:nvSpPr>
          <p:cNvPr id="170" name="road-final"/>
          <p:cNvSpPr txBox="1"/>
          <p:nvPr/>
        </p:nvSpPr>
        <p:spPr>
          <a:xfrm>
            <a:off x="1428750" y="4857750"/>
            <a:ext cx="8763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마감 기준: 2026.09.18 최종 제출. 9월 1일 이후에는 큰 기능 추가를 멈추고 안정화에 집중합니다.</a:t>
            </a:r>
            <a:endParaRPr lang="ko-KR" sz="1500"/>
          </a:p>
        </p:txBody>
      </p:sp>
      <p:sp>
        <p:nvSpPr>
          <p:cNvPr id="199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12" name="kicker"/>
          <p:cNvSpPr txBox="1"/>
          <p:nvPr/>
        </p:nvSpPr>
        <p:spPr>
          <a:xfrm>
            <a:off x="685800" y="4000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000" b="1">
                <a:solidFill>
                  <a:srgbClr val="666666"/>
                </a:solidFill>
                <a:latin typeface="맑은 고딕"/>
                <a:ea typeface="맑은 고딕"/>
              </a:rPr>
              <a:t>NEXT SPRINT</a:t>
            </a:r>
            <a:endParaRPr lang="ko-KR" sz="1000"/>
          </a:p>
        </p:txBody>
      </p:sp>
      <p:sp>
        <p:nvSpPr>
          <p:cNvPr id="212" name="title"/>
          <p:cNvSpPr txBox="1"/>
          <p:nvPr/>
        </p:nvSpPr>
        <p:spPr>
          <a:xfrm>
            <a:off x="685800" y="685800"/>
            <a:ext cx="8858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맑은 고딕"/>
                <a:ea typeface="맑은 고딕"/>
              </a:rPr>
              <a:t>세미나 이후 바로 착수할 1차 작업은 실행 가능한 통합 상태 만들기입니다.</a:t>
            </a:r>
            <a:endParaRPr lang="ko-KR" sz="2400"/>
          </a:p>
        </p:txBody>
      </p:sp>
      <p:sp>
        <p:nvSpPr>
          <p:cNvPr id="312" name="rule"/>
          <p:cNvSpPr txBox="1"/>
          <p:nvPr/>
        </p:nvSpPr>
        <p:spPr>
          <a:xfrm>
            <a:off x="685800" y="1190625"/>
            <a:ext cx="108204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412" name="page"/>
          <p:cNvSpPr txBox="1"/>
          <p:nvPr/>
        </p:nvSpPr>
        <p:spPr>
          <a:xfrm>
            <a:off x="11001375" y="4000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ko-KR" sz="900">
                <a:solidFill>
                  <a:srgbClr val="777777"/>
                </a:solidFill>
                <a:latin typeface="맑은 고딕"/>
                <a:ea typeface="맑은 고딕"/>
              </a:rPr>
              <a:t>12</a:t>
            </a:r>
            <a:endParaRPr lang="ko-KR" sz="900"/>
          </a:p>
        </p:txBody>
      </p:sp>
      <p:sp>
        <p:nvSpPr>
          <p:cNvPr id="51" name="next-num-1"/>
          <p:cNvSpPr txBox="1"/>
          <p:nvPr/>
        </p:nvSpPr>
        <p:spPr>
          <a:xfrm>
            <a:off x="1047750" y="15240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000" b="1">
                <a:solidFill>
                  <a:srgbClr val="111111"/>
                </a:solidFill>
                <a:latin typeface="맑은 고딕"/>
                <a:ea typeface="맑은 고딕"/>
              </a:rPr>
              <a:t>1</a:t>
            </a:r>
            <a:endParaRPr lang="ko-KR" sz="2000"/>
          </a:p>
        </p:txBody>
      </p:sp>
      <p:sp>
        <p:nvSpPr>
          <p:cNvPr id="71" name="next-title-1"/>
          <p:cNvSpPr txBox="1"/>
          <p:nvPr/>
        </p:nvSpPr>
        <p:spPr>
          <a:xfrm>
            <a:off x="1714500" y="15240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dashboard.py 이름 정리</a:t>
            </a:r>
            <a:endParaRPr lang="ko-KR" sz="1500"/>
          </a:p>
        </p:txBody>
      </p:sp>
      <p:sp>
        <p:nvSpPr>
          <p:cNvPr id="91" name="next-desc-1"/>
          <p:cNvSpPr txBox="1"/>
          <p:nvPr/>
        </p:nvSpPr>
        <p:spPr>
          <a:xfrm>
            <a:off x="4762500" y="15335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실행 명령과 실제 파일명을 일치</a:t>
            </a:r>
            <a:endParaRPr lang="ko-KR" sz="1300"/>
          </a:p>
        </p:txBody>
      </p:sp>
      <p:sp>
        <p:nvSpPr>
          <p:cNvPr id="111" name="next-rule-1"/>
          <p:cNvSpPr txBox="1"/>
          <p:nvPr/>
        </p:nvSpPr>
        <p:spPr>
          <a:xfrm>
            <a:off x="1047750" y="1905000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52" name="next-num-2"/>
          <p:cNvSpPr txBox="1"/>
          <p:nvPr/>
        </p:nvSpPr>
        <p:spPr>
          <a:xfrm>
            <a:off x="1047750" y="22479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000" b="1">
                <a:solidFill>
                  <a:srgbClr val="111111"/>
                </a:solidFill>
                <a:latin typeface="맑은 고딕"/>
                <a:ea typeface="맑은 고딕"/>
              </a:rPr>
              <a:t>2</a:t>
            </a:r>
            <a:endParaRPr lang="ko-KR" sz="2000"/>
          </a:p>
        </p:txBody>
      </p:sp>
      <p:sp>
        <p:nvSpPr>
          <p:cNvPr id="72" name="next-title-2"/>
          <p:cNvSpPr txBox="1"/>
          <p:nvPr/>
        </p:nvSpPr>
        <p:spPr>
          <a:xfrm>
            <a:off x="1714500" y="22479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latest_result.json 저장</a:t>
            </a:r>
            <a:endParaRPr lang="ko-KR" sz="1500"/>
          </a:p>
        </p:txBody>
      </p:sp>
      <p:sp>
        <p:nvSpPr>
          <p:cNvPr id="92" name="next-desc-2"/>
          <p:cNvSpPr txBox="1"/>
          <p:nvPr/>
        </p:nvSpPr>
        <p:spPr>
          <a:xfrm>
            <a:off x="4762500" y="22574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main.py 분석 결과를 대시보드로 전달</a:t>
            </a:r>
            <a:endParaRPr lang="ko-KR" sz="1300"/>
          </a:p>
        </p:txBody>
      </p:sp>
      <p:sp>
        <p:nvSpPr>
          <p:cNvPr id="112" name="next-rule-2"/>
          <p:cNvSpPr txBox="1"/>
          <p:nvPr/>
        </p:nvSpPr>
        <p:spPr>
          <a:xfrm>
            <a:off x="1047750" y="2628900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53" name="next-num-3"/>
          <p:cNvSpPr txBox="1"/>
          <p:nvPr/>
        </p:nvSpPr>
        <p:spPr>
          <a:xfrm>
            <a:off x="1047750" y="29718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000" b="1">
                <a:solidFill>
                  <a:srgbClr val="111111"/>
                </a:solidFill>
                <a:latin typeface="맑은 고딕"/>
                <a:ea typeface="맑은 고딕"/>
              </a:rPr>
              <a:t>3</a:t>
            </a:r>
            <a:endParaRPr lang="ko-KR" sz="2000"/>
          </a:p>
        </p:txBody>
      </p:sp>
      <p:sp>
        <p:nvSpPr>
          <p:cNvPr id="73" name="next-title-3"/>
          <p:cNvSpPr txBox="1"/>
          <p:nvPr/>
        </p:nvSpPr>
        <p:spPr>
          <a:xfrm>
            <a:off x="1714500" y="29718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SQLite 기록 연결</a:t>
            </a:r>
            <a:endParaRPr lang="ko-KR" sz="1500"/>
          </a:p>
        </p:txBody>
      </p:sp>
      <p:sp>
        <p:nvSpPr>
          <p:cNvPr id="93" name="next-desc-3"/>
          <p:cNvSpPr txBox="1"/>
          <p:nvPr/>
        </p:nvSpPr>
        <p:spPr>
          <a:xfrm>
            <a:off x="4762500" y="29813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DataLogger.log_frame()을 분석 루프에 삽입</a:t>
            </a:r>
            <a:endParaRPr lang="ko-KR" sz="1300"/>
          </a:p>
        </p:txBody>
      </p:sp>
      <p:sp>
        <p:nvSpPr>
          <p:cNvPr id="113" name="next-rule-3"/>
          <p:cNvSpPr txBox="1"/>
          <p:nvPr/>
        </p:nvSpPr>
        <p:spPr>
          <a:xfrm>
            <a:off x="1047750" y="3352800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54" name="next-num-4"/>
          <p:cNvSpPr txBox="1"/>
          <p:nvPr/>
        </p:nvSpPr>
        <p:spPr>
          <a:xfrm>
            <a:off x="1047750" y="36957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000" b="1">
                <a:solidFill>
                  <a:srgbClr val="111111"/>
                </a:solidFill>
                <a:latin typeface="맑은 고딕"/>
                <a:ea typeface="맑은 고딕"/>
              </a:rPr>
              <a:t>4</a:t>
            </a:r>
            <a:endParaRPr lang="ko-KR" sz="2000"/>
          </a:p>
        </p:txBody>
      </p:sp>
      <p:sp>
        <p:nvSpPr>
          <p:cNvPr id="74" name="next-title-4"/>
          <p:cNvSpPr txBox="1"/>
          <p:nvPr/>
        </p:nvSpPr>
        <p:spPr>
          <a:xfrm>
            <a:off x="1714500" y="36957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모델 선택 구조</a:t>
            </a:r>
            <a:endParaRPr lang="ko-KR" sz="1500"/>
          </a:p>
        </p:txBody>
      </p:sp>
      <p:sp>
        <p:nvSpPr>
          <p:cNvPr id="94" name="next-desc-4"/>
          <p:cNvSpPr txBox="1"/>
          <p:nvPr/>
        </p:nvSpPr>
        <p:spPr>
          <a:xfrm>
            <a:off x="4762500" y="37052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RT-DETR / YOLO11을 같은 출력 규격으로 통일</a:t>
            </a:r>
            <a:endParaRPr lang="ko-KR" sz="1300"/>
          </a:p>
        </p:txBody>
      </p:sp>
      <p:sp>
        <p:nvSpPr>
          <p:cNvPr id="114" name="next-rule-4"/>
          <p:cNvSpPr txBox="1"/>
          <p:nvPr/>
        </p:nvSpPr>
        <p:spPr>
          <a:xfrm>
            <a:off x="1047750" y="4076700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55" name="next-num-5"/>
          <p:cNvSpPr txBox="1"/>
          <p:nvPr/>
        </p:nvSpPr>
        <p:spPr>
          <a:xfrm>
            <a:off x="1047750" y="44196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2000" b="1">
                <a:solidFill>
                  <a:srgbClr val="111111"/>
                </a:solidFill>
                <a:latin typeface="맑은 고딕"/>
                <a:ea typeface="맑은 고딕"/>
              </a:rPr>
              <a:t>5</a:t>
            </a:r>
            <a:endParaRPr lang="ko-KR" sz="2000"/>
          </a:p>
        </p:txBody>
      </p:sp>
      <p:sp>
        <p:nvSpPr>
          <p:cNvPr id="75" name="next-title-5"/>
          <p:cNvSpPr txBox="1"/>
          <p:nvPr/>
        </p:nvSpPr>
        <p:spPr>
          <a:xfrm>
            <a:off x="1714500" y="44196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맑은 고딕"/>
                <a:ea typeface="맑은 고딕"/>
              </a:rPr>
              <a:t>캘리브레이션 도구</a:t>
            </a:r>
            <a:endParaRPr lang="ko-KR" sz="1500"/>
          </a:p>
        </p:txBody>
      </p:sp>
      <p:sp>
        <p:nvSpPr>
          <p:cNvPr id="95" name="next-desc-5"/>
          <p:cNvSpPr txBox="1"/>
          <p:nvPr/>
        </p:nvSpPr>
        <p:spPr>
          <a:xfrm>
            <a:off x="4762500" y="44291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1300">
                <a:solidFill>
                  <a:srgbClr val="444444"/>
                </a:solidFill>
                <a:latin typeface="맑은 고딕"/>
                <a:ea typeface="맑은 고딕"/>
              </a:rPr>
              <a:t>콘 4점 입력, H 저장, 변환 오차 검증</a:t>
            </a:r>
            <a:endParaRPr lang="ko-KR" sz="1300"/>
          </a:p>
        </p:txBody>
      </p:sp>
      <p:sp>
        <p:nvSpPr>
          <p:cNvPr id="115" name="next-rule-5"/>
          <p:cNvSpPr txBox="1"/>
          <p:nvPr/>
        </p:nvSpPr>
        <p:spPr>
          <a:xfrm>
            <a:off x="1047750" y="4800600"/>
            <a:ext cx="9334500" cy="9525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200" name="footer"/>
          <p:cNvSpPr txBox="1"/>
          <p:nvPr/>
        </p:nvSpPr>
        <p:spPr>
          <a:xfrm>
            <a:off x="685800" y="65151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ko-KR" sz="800">
                <a:solidFill>
                  <a:srgbClr val="777777"/>
                </a:solidFill>
                <a:latin typeface="맑은 고딕"/>
                <a:ea typeface="맑은 고딕"/>
              </a:rPr>
              <a:t>CrowdFlow | 드론 조감 영상 기반 군중 밀집도 관제</a:t>
            </a:r>
            <a:endParaRPr lang="ko-KR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10" name="thanks"/>
          <p:cNvSpPr txBox="1"/>
          <p:nvPr/>
        </p:nvSpPr>
        <p:spPr>
          <a:xfrm>
            <a:off x="3190875" y="2781300"/>
            <a:ext cx="581025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3000" b="1">
                <a:solidFill>
                  <a:srgbClr val="111111"/>
                </a:solidFill>
                <a:latin typeface="맑은 고딕"/>
                <a:ea typeface="맑은 고딕"/>
              </a:rPr>
              <a:t>THANK YOU</a:t>
            </a:r>
            <a:endParaRPr lang="ko-KR" sz="3000"/>
          </a:p>
        </p:txBody>
      </p:sp>
      <p:sp>
        <p:nvSpPr>
          <p:cNvPr id="11" name="thanks-rule"/>
          <p:cNvSpPr txBox="1"/>
          <p:nvPr/>
        </p:nvSpPr>
        <p:spPr>
          <a:xfrm>
            <a:off x="3190875" y="3409950"/>
            <a:ext cx="581025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12" name="thanks-sub"/>
          <p:cNvSpPr txBox="1"/>
          <p:nvPr/>
        </p:nvSpPr>
        <p:spPr>
          <a:xfrm>
            <a:off x="3190875" y="3638550"/>
            <a:ext cx="5810250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ko-KR" sz="1200">
                <a:solidFill>
                  <a:srgbClr val="555555"/>
                </a:solidFill>
                <a:latin typeface="맑은 고딕"/>
                <a:ea typeface="맑은 고딕"/>
              </a:rPr>
              <a:t>CrowdFlow 의료 Lab 세미나 | 20221333 하두호</a:t>
            </a:r>
            <a:endParaRPr lang="ko-KR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16</ns0:TotalTime>
  <ns0:Words>22</ns0:Words>
  <ns0:Application>Microsoft Office PowerPoint</ns0:Application>
  <ns0:PresentationFormat>와이드스크린</ns0:PresentationFormat>
  <ns0:Paragraphs>13</ns0:Paragraphs>
  <ns0:Slides>13</ns0:Slides>
  <ns0:Notes>0</ns0:Notes>
  <ns0:HiddenSlides>13</ns0:HiddenSlides>
  <ns0:MMClips>0</ns0:MMClips>
  <ns0:ScaleCrop>false</ns0:ScaleCrop>
  <ns0:HeadingPairs>
    <ns1:vector size="6" baseType="variant">
      <ns1:variant>
        <ns1:lpstr>사용한 글꼴</ns1:lpstr>
      </ns1:variant>
      <ns1:variant>
        <ns1:i4>3</ns1:i4>
      </ns1:variant>
      <ns1:variant>
        <ns1:lpstr>테마</ns1:lpstr>
      </ns1:variant>
      <ns1:variant>
        <ns1:i4>1</ns1:i4>
      </ns1:variant>
      <ns1:variant>
        <ns1:lpstr>슬라이드 제목</ns1:lpstr>
      </ns1:variant>
      <ns1:variant>
        <ns1:i4>4</ns1:i4>
      </ns1:variant>
    </ns1:vector>
  </ns0:HeadingPairs>
  <ns0:TitlesOfParts>
    <ns1:vector size="8" baseType="lpstr">
      <ns1:lpstr>HY 신명조</ns1:lpstr>
      <ns1:lpstr>맑은 고딕</ns1:lpstr>
      <ns1:lpstr>Arial</ns1:lpstr>
      <ns1:lpstr>Office 테마</ns1:lpstr>
      <ns1:lpstr>PowerPoint 프레젠테이션</ns1:lpstr>
      <ns1:lpstr>PowerPoint 프레젠테이션</ns1:lpstr>
      <ns1:lpstr>PowerPoint 프레젠테이션</ns1:lpstr>
      <ns1:lpstr>PowerPoint 프레젠테이션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김민재</dc:creator>
  <cp:lastModifiedBy>이승수</cp:lastModifiedBy>
  <cp:revision>6</cp:revision>
  <dcterms:created xsi:type="dcterms:W3CDTF">2024-10-09T14:32:43Z</dcterms:created>
  <dcterms:modified xsi:type="dcterms:W3CDTF">2025-09-24T09:26:00Z</dcterms:modified>
</cp:coreProperties>
</file>